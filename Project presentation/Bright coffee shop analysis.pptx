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4"/>
  </p:sldMasterIdLst>
  <p:notesMasterIdLst>
    <p:notesMasterId r:id="rId19"/>
  </p:notesMasterIdLst>
  <p:handoutMasterIdLst>
    <p:handoutMasterId r:id="rId20"/>
  </p:handoutMasterIdLst>
  <p:sldIdLst>
    <p:sldId id="256" r:id="rId5"/>
    <p:sldId id="263" r:id="rId6"/>
    <p:sldId id="264" r:id="rId7"/>
    <p:sldId id="265" r:id="rId8"/>
    <p:sldId id="266" r:id="rId9"/>
    <p:sldId id="269" r:id="rId10"/>
    <p:sldId id="270" r:id="rId11"/>
    <p:sldId id="271" r:id="rId12"/>
    <p:sldId id="272" r:id="rId13"/>
    <p:sldId id="273" r:id="rId14"/>
    <p:sldId id="276" r:id="rId15"/>
    <p:sldId id="278" r:id="rId16"/>
    <p:sldId id="279" r:id="rId17"/>
    <p:sldId id="26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his%20pc\Dropbox\PC\Documents\BrightLearn\Datasets\Case_study_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his%20pc\Dropbox\PC\Documents\BrightLearn\Datasets\Case_study_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his%20pc\Dropbox\PC\Documents\BrightLearn\Datasets\Case_study_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is%20pc\Dropbox\PC\Documents\BrightLearn\Datasets\Case_study_proje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his%20pc\Dropbox\PC\Documents\BrightLearn\Datasets\Case_study_project%20(version%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his%20pc\Dropbox\PC\Documents\BrightLearn\Datasets\Case_study_project%20(version%201).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[Case_study_project.xlsx]Bright_coffee shop pivot!PivotTable8</c:name>
    <c:fmtId val="57"/>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Revenu</a:t>
            </a:r>
            <a:r>
              <a:rPr lang="en-ZA"/>
              <a:t>e generated per store</a:t>
            </a:r>
            <a:endParaRPr lang="en-US"/>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3"/>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4"/>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5"/>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6"/>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7"/>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8"/>
        <c:spPr>
          <a:solidFill>
            <a:schemeClr val="accent2"/>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'Bright_coffee shop pivot'!$B$3</c:f>
              <c:strCache>
                <c:ptCount val="1"/>
                <c:pt idx="0">
                  <c:v>Total</c:v>
                </c:pt>
              </c:strCache>
            </c:strRef>
          </c:tx>
          <c:dPt>
            <c:idx val="0"/>
            <c:bubble3D val="0"/>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extLst>
              <c:ext xmlns:c16="http://schemas.microsoft.com/office/drawing/2014/chart" uri="{C3380CC4-5D6E-409C-BE32-E72D297353CC}">
                <c16:uniqueId val="{00000001-4179-443B-B536-1904887E7ED8}"/>
              </c:ext>
            </c:extLst>
          </c:dPt>
          <c:dPt>
            <c:idx val="1"/>
            <c:bubble3D val="0"/>
            <c:spPr>
              <a:gradFill rotWithShape="1">
                <a:gsLst>
                  <a:gs pos="0">
                    <a:schemeClr val="accent4">
                      <a:tint val="100000"/>
                      <a:shade val="85000"/>
                      <a:satMod val="100000"/>
                      <a:lumMod val="100000"/>
                    </a:schemeClr>
                  </a:gs>
                  <a:gs pos="100000">
                    <a:schemeClr val="accent4">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extLst>
              <c:ext xmlns:c16="http://schemas.microsoft.com/office/drawing/2014/chart" uri="{C3380CC4-5D6E-409C-BE32-E72D297353CC}">
                <c16:uniqueId val="{00000003-4179-443B-B536-1904887E7ED8}"/>
              </c:ext>
            </c:extLst>
          </c:dPt>
          <c:dPt>
            <c:idx val="2"/>
            <c:bubble3D val="0"/>
            <c:spPr>
              <a:gradFill rotWithShape="1">
                <a:gsLst>
                  <a:gs pos="0">
                    <a:schemeClr val="accent6">
                      <a:tint val="100000"/>
                      <a:shade val="85000"/>
                      <a:satMod val="100000"/>
                      <a:lumMod val="100000"/>
                    </a:schemeClr>
                  </a:gs>
                  <a:gs pos="100000">
                    <a:schemeClr val="accent6">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prstMaterial="flat">
                <a:bevelT w="38100" h="44450" prst="angle"/>
                <a:contourClr>
                  <a:scrgbClr r="0" g="0" b="0">
                    <a:shade val="35000"/>
                    <a:satMod val="160000"/>
                  </a:scrgbClr>
                </a:contourClr>
              </a:sp3d>
            </c:spPr>
            <c:extLst>
              <c:ext xmlns:c16="http://schemas.microsoft.com/office/drawing/2014/chart" uri="{C3380CC4-5D6E-409C-BE32-E72D297353CC}">
                <c16:uniqueId val="{00000005-4179-443B-B536-1904887E7ED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'Bright_coffee shop pivot'!$A$4:$A$7</c:f>
              <c:strCache>
                <c:ptCount val="3"/>
                <c:pt idx="0">
                  <c:v>Astoria</c:v>
                </c:pt>
                <c:pt idx="1">
                  <c:v>Hell's Kitchen</c:v>
                </c:pt>
                <c:pt idx="2">
                  <c:v>Lower Manhattan</c:v>
                </c:pt>
              </c:strCache>
            </c:strRef>
          </c:cat>
          <c:val>
            <c:numRef>
              <c:f>'Bright_coffee shop pivot'!$B$4:$B$7</c:f>
              <c:numCache>
                <c:formatCode>_-[$R-1C09]* #\ ##0_-;\-[$R-1C09]* #\ ##0_-;_-[$R-1C09]* "-"??_-;_-@_-</c:formatCode>
                <c:ptCount val="3"/>
                <c:pt idx="0">
                  <c:v>232243.91000000093</c:v>
                </c:pt>
                <c:pt idx="1">
                  <c:v>236511.17000000167</c:v>
                </c:pt>
                <c:pt idx="2">
                  <c:v>230057.25000000236</c:v>
                </c:pt>
              </c:numCache>
            </c:numRef>
          </c:val>
          <c:extLst>
            <c:ext xmlns:c16="http://schemas.microsoft.com/office/drawing/2014/chart" uri="{C3380CC4-5D6E-409C-BE32-E72D297353CC}">
              <c16:uniqueId val="{00000006-4179-443B-B536-1904887E7ED8}"/>
            </c:ext>
          </c:extLst>
        </c:ser>
        <c:dLbls>
          <c:dLblPos val="inEnd"/>
          <c:showLegendKey val="0"/>
          <c:showVal val="0"/>
          <c:showCatName val="1"/>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[Case_study_project.xlsx]Bright_coffee shop pivot!PivotTable2</c:name>
    <c:fmtId val="50"/>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ZA" dirty="0"/>
              <a:t>Sales</a:t>
            </a:r>
            <a:r>
              <a:rPr lang="en-ZA" baseline="0" dirty="0"/>
              <a:t> growth over time</a:t>
            </a:r>
            <a:endParaRPr lang="en-ZA" dirty="0"/>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ZA"/>
        </a:p>
      </c:txPr>
    </c:title>
    <c:autoTitleDeleted val="0"/>
    <c:pivotFmts>
      <c:pivotFmt>
        <c:idx val="0"/>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'Bright_coffee shop pivot'!$B$21:$B$22</c:f>
              <c:strCache>
                <c:ptCount val="1"/>
                <c:pt idx="0">
                  <c:v>Astoria</c:v>
                </c:pt>
              </c:strCache>
            </c:strRef>
          </c:tx>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'Bright_coffee shop pivot'!$A$23:$A$29</c:f>
              <c:strCache>
                <c:ptCount val="6"/>
                <c:pt idx="0">
                  <c:v>Jan</c:v>
                </c:pt>
                <c:pt idx="1">
                  <c:v>Feb</c:v>
                </c:pt>
                <c:pt idx="2">
                  <c:v>Mar</c:v>
                </c:pt>
                <c:pt idx="3">
                  <c:v>Apr</c:v>
                </c:pt>
                <c:pt idx="4">
                  <c:v>May</c:v>
                </c:pt>
                <c:pt idx="5">
                  <c:v>Jun</c:v>
                </c:pt>
              </c:strCache>
            </c:strRef>
          </c:cat>
          <c:val>
            <c:numRef>
              <c:f>'Bright_coffee shop pivot'!$B$23:$B$29</c:f>
              <c:numCache>
                <c:formatCode>_-[$R-1C09]* #\ ##0_-;\-[$R-1C09]* #\ ##0_-;_-[$R-1C09]* "-"??_-;_-@_-</c:formatCode>
                <c:ptCount val="6"/>
                <c:pt idx="0">
                  <c:v>27313.660000000069</c:v>
                </c:pt>
                <c:pt idx="1">
                  <c:v>25105.340000000058</c:v>
                </c:pt>
                <c:pt idx="2">
                  <c:v>32835.430000000022</c:v>
                </c:pt>
                <c:pt idx="3">
                  <c:v>39477.610000000008</c:v>
                </c:pt>
                <c:pt idx="4">
                  <c:v>52428.759999999995</c:v>
                </c:pt>
                <c:pt idx="5">
                  <c:v>55083.109999999979</c:v>
                </c:pt>
              </c:numCache>
            </c:numRef>
          </c:val>
          <c:extLst>
            <c:ext xmlns:c16="http://schemas.microsoft.com/office/drawing/2014/chart" uri="{C3380CC4-5D6E-409C-BE32-E72D297353CC}">
              <c16:uniqueId val="{00000000-6102-4922-B3BE-7E1901FF8893}"/>
            </c:ext>
          </c:extLst>
        </c:ser>
        <c:ser>
          <c:idx val="1"/>
          <c:order val="1"/>
          <c:tx>
            <c:strRef>
              <c:f>'Bright_coffee shop pivot'!$C$21:$C$22</c:f>
              <c:strCache>
                <c:ptCount val="1"/>
                <c:pt idx="0">
                  <c:v>Hell's Kitchen</c:v>
                </c:pt>
              </c:strCache>
            </c:strRef>
          </c:tx>
          <c:spPr>
            <a:gradFill rotWithShape="1">
              <a:gsLst>
                <a:gs pos="0">
                  <a:schemeClr val="accent4">
                    <a:tint val="100000"/>
                    <a:shade val="85000"/>
                    <a:satMod val="100000"/>
                    <a:lumMod val="100000"/>
                  </a:schemeClr>
                </a:gs>
                <a:gs pos="100000">
                  <a:schemeClr val="accent4">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'Bright_coffee shop pivot'!$A$23:$A$29</c:f>
              <c:strCache>
                <c:ptCount val="6"/>
                <c:pt idx="0">
                  <c:v>Jan</c:v>
                </c:pt>
                <c:pt idx="1">
                  <c:v>Feb</c:v>
                </c:pt>
                <c:pt idx="2">
                  <c:v>Mar</c:v>
                </c:pt>
                <c:pt idx="3">
                  <c:v>Apr</c:v>
                </c:pt>
                <c:pt idx="4">
                  <c:v>May</c:v>
                </c:pt>
                <c:pt idx="5">
                  <c:v>Jun</c:v>
                </c:pt>
              </c:strCache>
            </c:strRef>
          </c:cat>
          <c:val>
            <c:numRef>
              <c:f>'Bright_coffee shop pivot'!$C$23:$C$29</c:f>
              <c:numCache>
                <c:formatCode>_-[$R-1C09]* #\ ##0_-;\-[$R-1C09]* #\ ##0_-;_-[$R-1C09]* "-"??_-;_-@_-</c:formatCode>
                <c:ptCount val="6"/>
                <c:pt idx="0">
                  <c:v>27820.650000000031</c:v>
                </c:pt>
                <c:pt idx="1">
                  <c:v>25719.800000000017</c:v>
                </c:pt>
                <c:pt idx="2">
                  <c:v>33110.569999999978</c:v>
                </c:pt>
                <c:pt idx="3">
                  <c:v>40304.14</c:v>
                </c:pt>
                <c:pt idx="4">
                  <c:v>52598.929999999906</c:v>
                </c:pt>
                <c:pt idx="5">
                  <c:v>56957.079999999922</c:v>
                </c:pt>
              </c:numCache>
            </c:numRef>
          </c:val>
          <c:extLst>
            <c:ext xmlns:c16="http://schemas.microsoft.com/office/drawing/2014/chart" uri="{C3380CC4-5D6E-409C-BE32-E72D297353CC}">
              <c16:uniqueId val="{00000001-6102-4922-B3BE-7E1901FF8893}"/>
            </c:ext>
          </c:extLst>
        </c:ser>
        <c:ser>
          <c:idx val="2"/>
          <c:order val="2"/>
          <c:tx>
            <c:strRef>
              <c:f>'Bright_coffee shop pivot'!$D$21:$D$22</c:f>
              <c:strCache>
                <c:ptCount val="1"/>
                <c:pt idx="0">
                  <c:v>Lower Manhattan</c:v>
                </c:pt>
              </c:strCache>
            </c:strRef>
          </c:tx>
          <c:spPr>
            <a:gradFill rotWithShape="1">
              <a:gsLst>
                <a:gs pos="0">
                  <a:schemeClr val="accent6">
                    <a:tint val="100000"/>
                    <a:shade val="85000"/>
                    <a:satMod val="100000"/>
                    <a:lumMod val="100000"/>
                  </a:schemeClr>
                </a:gs>
                <a:gs pos="100000">
                  <a:schemeClr val="accent6">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'Bright_coffee shop pivot'!$A$23:$A$29</c:f>
              <c:strCache>
                <c:ptCount val="6"/>
                <c:pt idx="0">
                  <c:v>Jan</c:v>
                </c:pt>
                <c:pt idx="1">
                  <c:v>Feb</c:v>
                </c:pt>
                <c:pt idx="2">
                  <c:v>Mar</c:v>
                </c:pt>
                <c:pt idx="3">
                  <c:v>Apr</c:v>
                </c:pt>
                <c:pt idx="4">
                  <c:v>May</c:v>
                </c:pt>
                <c:pt idx="5">
                  <c:v>Jun</c:v>
                </c:pt>
              </c:strCache>
            </c:strRef>
          </c:cat>
          <c:val>
            <c:numRef>
              <c:f>'Bright_coffee shop pivot'!$D$23:$D$29</c:f>
              <c:numCache>
                <c:formatCode>_-[$R-1C09]* #\ ##0_-;\-[$R-1C09]* #\ ##0_-;_-[$R-1C09]* "-"??_-;_-@_-</c:formatCode>
                <c:ptCount val="6"/>
                <c:pt idx="0">
                  <c:v>26543.43</c:v>
                </c:pt>
                <c:pt idx="1">
                  <c:v>25320.05000000001</c:v>
                </c:pt>
                <c:pt idx="2">
                  <c:v>32888.679999999986</c:v>
                </c:pt>
                <c:pt idx="3">
                  <c:v>39159.329999999965</c:v>
                </c:pt>
                <c:pt idx="4">
                  <c:v>51700.069999999942</c:v>
                </c:pt>
                <c:pt idx="5">
                  <c:v>54445.689999999908</c:v>
                </c:pt>
              </c:numCache>
            </c:numRef>
          </c:val>
          <c:extLst>
            <c:ext xmlns:c16="http://schemas.microsoft.com/office/drawing/2014/chart" uri="{C3380CC4-5D6E-409C-BE32-E72D297353CC}">
              <c16:uniqueId val="{00000002-6102-4922-B3BE-7E1901FF8893}"/>
            </c:ext>
          </c:extLst>
        </c:ser>
        <c:dLbls>
          <c:dLblPos val="inEnd"/>
          <c:showLegendKey val="0"/>
          <c:showVal val="1"/>
          <c:showCatName val="0"/>
          <c:showSerName val="0"/>
          <c:showPercent val="0"/>
          <c:showBubbleSize val="0"/>
        </c:dLbls>
        <c:gapWidth val="115"/>
        <c:overlap val="-20"/>
        <c:axId val="945683759"/>
        <c:axId val="945686159"/>
      </c:barChart>
      <c:catAx>
        <c:axId val="945683759"/>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945686159"/>
        <c:crosses val="autoZero"/>
        <c:auto val="1"/>
        <c:lblAlgn val="ctr"/>
        <c:lblOffset val="100"/>
        <c:noMultiLvlLbl val="0"/>
      </c:catAx>
      <c:valAx>
        <c:axId val="945686159"/>
        <c:scaling>
          <c:orientation val="minMax"/>
        </c:scaling>
        <c:delete val="0"/>
        <c:axPos val="b"/>
        <c:majorGridlines>
          <c:spPr>
            <a:ln w="9525" cap="flat" cmpd="sng" algn="ctr">
              <a:solidFill>
                <a:schemeClr val="lt1">
                  <a:lumMod val="95000"/>
                  <a:alpha val="10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9456837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[Case_study_project.xlsx]Bright_coffee shop pivot!PivotTable6</c:name>
    <c:fmtId val="110"/>
  </c:pivotSource>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dirty="0"/>
              <a:t>Sales by</a:t>
            </a:r>
            <a:r>
              <a:rPr lang="en-US" baseline="0" dirty="0"/>
              <a:t> product category</a:t>
            </a:r>
            <a:endParaRPr lang="en-US" dirty="0"/>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63500" sx="102000" sy="102000" algn="ctr" rotWithShape="0">
              <a:prstClr val="black">
                <a:alpha val="20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2"/>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3"/>
        <c:dLbl>
          <c:idx val="0"/>
          <c:dLblPos val="inEnd"/>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2">
              <a:lumMod val="60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3074186854357434"/>
                  <c:h val="5.6287490215374145E-2"/>
                </c:manualLayout>
              </c15:layout>
            </c:ext>
          </c:extLst>
        </c:dLbl>
      </c:pivotFmt>
      <c:pivotFmt>
        <c:idx val="5"/>
        <c:spPr>
          <a:solidFill>
            <a:schemeClr val="accent5"/>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6"/>
        <c:spPr>
          <a:solidFill>
            <a:schemeClr val="accent3">
              <a:lumMod val="60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7"/>
        <c:spPr>
          <a:solidFill>
            <a:schemeClr val="accent4"/>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7292415588600699"/>
                  <c:h val="9.0462046204620464E-2"/>
                </c:manualLayout>
              </c15:layout>
            </c:ext>
          </c:extLst>
        </c:dLbl>
      </c:pivotFmt>
      <c:pivotFmt>
        <c:idx val="8"/>
        <c:spPr>
          <a:solidFill>
            <a:schemeClr val="accent6"/>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19294243598917071"/>
                  <c:h val="5.6287490215374145E-2"/>
                </c:manualLayout>
              </c15:layout>
            </c:ext>
          </c:extLst>
        </c:dLbl>
      </c:pivotFmt>
      <c:pivotFmt>
        <c:idx val="9"/>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0"/>
        <c:spPr>
          <a:solidFill>
            <a:schemeClr val="accent2"/>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1"/>
        <c:spPr>
          <a:solidFill>
            <a:schemeClr val="accent3"/>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2"/>
        <c:spPr>
          <a:solidFill>
            <a:schemeClr val="accent1">
              <a:lumMod val="60000"/>
            </a:schemeClr>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3"/>
        <c:spPr>
          <a:solidFill>
            <a:schemeClr val="accent1"/>
          </a:solidFill>
          <a:ln>
            <a:noFill/>
          </a:ln>
          <a:effectLst>
            <a:outerShdw blurRad="635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4"/>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7"/>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7292415588600699"/>
                  <c:h val="9.0462046204620464E-2"/>
                </c:manualLayout>
              </c15:layout>
            </c:ext>
          </c:extLst>
        </c:dLbl>
      </c:pivotFmt>
      <c:pivotFmt>
        <c:idx val="18"/>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19294243598917071"/>
                  <c:h val="5.6287490215374145E-2"/>
                </c:manualLayout>
              </c15:layout>
            </c:ext>
          </c:extLst>
        </c:dLbl>
      </c:pivotFmt>
      <c:pivotFmt>
        <c:idx val="20"/>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3074186854357434"/>
                  <c:h val="5.6287490215374145E-2"/>
                </c:manualLayout>
              </c15:layout>
            </c:ext>
          </c:extLst>
        </c:dLbl>
      </c:pivotFmt>
      <c:pivotFmt>
        <c:idx val="22"/>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1"/>
          </a:solidFill>
          <a:ln>
            <a:noFill/>
          </a:ln>
          <a:effectLst>
            <a:outerShdw blurRad="63500" sx="102000" sy="102000" algn="ctr"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6"/>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7292415588600699"/>
                  <c:h val="9.0462046204620464E-2"/>
                </c:manualLayout>
              </c15:layout>
            </c:ext>
          </c:extLst>
        </c:dLbl>
      </c:pivotFmt>
      <c:pivotFmt>
        <c:idx val="28"/>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19294243598917071"/>
                  <c:h val="5.6287490215374145E-2"/>
                </c:manualLayout>
              </c15:layout>
            </c:ext>
          </c:extLst>
        </c:dLbl>
      </c:pivotFmt>
      <c:pivotFmt>
        <c:idx val="30"/>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31"/>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3074186854357434"/>
                  <c:h val="5.6287490215374145E-2"/>
                </c:manualLayout>
              </c15:layout>
            </c:ext>
          </c:extLst>
        </c:dLbl>
      </c:pivotFmt>
      <c:pivotFmt>
        <c:idx val="32"/>
        <c:spPr>
          <a:solidFill>
            <a:schemeClr val="accent1"/>
          </a:solidFill>
          <a:ln>
            <a:noFill/>
          </a:ln>
          <a:effectLst>
            <a:outerShdw blurRad="63500" sx="102000" sy="102000" algn="ctr" rotWithShape="0">
              <a:prstClr val="black">
                <a:alpha val="20000"/>
              </a:prst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s>
    <c:plotArea>
      <c:layout/>
      <c:pieChart>
        <c:varyColors val="1"/>
        <c:ser>
          <c:idx val="0"/>
          <c:order val="0"/>
          <c:tx>
            <c:strRef>
              <c:f>'Bright_coffee shop pivot'!$B$108</c:f>
              <c:strCache>
                <c:ptCount val="1"/>
                <c:pt idx="0">
                  <c:v>Total</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8211-41F5-9C65-F2A37A6720EE}"/>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8211-41F5-9C65-F2A37A6720EE}"/>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8211-41F5-9C65-F2A37A6720EE}"/>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8211-41F5-9C65-F2A37A6720EE}"/>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8211-41F5-9C65-F2A37A6720EE}"/>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8211-41F5-9C65-F2A37A6720EE}"/>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8211-41F5-9C65-F2A37A6720EE}"/>
              </c:ext>
            </c:extLst>
          </c:dPt>
          <c:dPt>
            <c:idx val="7"/>
            <c:bubble3D val="0"/>
            <c:spPr>
              <a:solidFill>
                <a:schemeClr val="accent2">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8211-41F5-9C65-F2A37A6720EE}"/>
              </c:ext>
            </c:extLst>
          </c:dPt>
          <c:dPt>
            <c:idx val="8"/>
            <c:bubble3D val="0"/>
            <c:spPr>
              <a:solidFill>
                <a:schemeClr val="accent3">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8211-41F5-9C65-F2A37A6720EE}"/>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8211-41F5-9C65-F2A37A6720EE}"/>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8211-41F5-9C65-F2A37A6720EE}"/>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8211-41F5-9C65-F2A37A6720EE}"/>
                </c:ext>
              </c:extLst>
            </c:dLbl>
            <c:dLbl>
              <c:idx val="3"/>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7-8211-41F5-9C65-F2A37A6720EE}"/>
                </c:ext>
              </c:extLst>
            </c:dLbl>
            <c:dLbl>
              <c:idx val="4"/>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DFF8F4C6-E5DB-48EE-A066-5A09AA24484E}" type="CATEGORYNAME">
                      <a:rPr lang="en-US" sz="1200"/>
                      <a:pPr>
                        <a:defRPr>
                          <a:solidFill>
                            <a:schemeClr val="accent1"/>
                          </a:solidFill>
                        </a:defRPr>
                      </a:pPr>
                      <a:t>[CATEGORY NAME]</a:t>
                    </a:fld>
                    <a:r>
                      <a:rPr lang="en-US" sz="1200" baseline="0" dirty="0"/>
                      <a:t>
</a:t>
                    </a:r>
                    <a:fld id="{A2642FCB-597E-4AC7-B201-B867B8D1F322}" type="PERCENTAGE">
                      <a:rPr lang="en-US" sz="1200" baseline="0"/>
                      <a:pPr>
                        <a:defRPr>
                          <a:solidFill>
                            <a:schemeClr val="accent1"/>
                          </a:solidFill>
                        </a:defRPr>
                      </a:pPr>
                      <a:t>[PERCENTAGE]</a:t>
                    </a:fld>
                    <a:endParaRPr lang="en-US" sz="1200" baseline="0" dirty="0"/>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8211-41F5-9C65-F2A37A6720EE}"/>
                </c:ext>
              </c:extLst>
            </c:dLbl>
            <c:dLbl>
              <c:idx val="5"/>
              <c:tx>
                <c:rich>
                  <a:bodyPr rot="0" spcFirstLastPara="1" vertOverflow="ellipsis" vert="horz" wrap="square" lIns="38100" tIns="19050" rIns="38100" bIns="19050" anchor="ctr" anchorCtr="1">
                    <a:noAutofit/>
                  </a:bodyPr>
                  <a:lstStyle/>
                  <a:p>
                    <a:pPr>
                      <a:defRPr sz="1330" b="1" i="0" u="none" strike="noStrike" kern="1200" spc="0" baseline="0">
                        <a:solidFill>
                          <a:schemeClr val="accent1"/>
                        </a:solidFill>
                        <a:latin typeface="+mn-lt"/>
                        <a:ea typeface="+mn-ea"/>
                        <a:cs typeface="+mn-cs"/>
                      </a:defRPr>
                    </a:pPr>
                    <a:fld id="{DDC3A2A4-6EA7-42D1-A6C6-2B70119A7C1E}" type="CATEGORYNAME">
                      <a:rPr lang="en-US" sz="1200"/>
                      <a:pPr>
                        <a:defRPr>
                          <a:solidFill>
                            <a:schemeClr val="accent1"/>
                          </a:solidFill>
                        </a:defRPr>
                      </a:pPr>
                      <a:t>[CATEGORY NAME]</a:t>
                    </a:fld>
                    <a:r>
                      <a:rPr lang="en-US" sz="1200" baseline="0" dirty="0"/>
                      <a:t>
</a:t>
                    </a:r>
                    <a:fld id="{66A1603B-85F8-4BD2-81E4-D50413AD4F7B}" type="PERCENTAGE">
                      <a:rPr lang="en-US" sz="1200" baseline="0"/>
                      <a:pPr>
                        <a:defRPr>
                          <a:solidFill>
                            <a:schemeClr val="accent1"/>
                          </a:solidFill>
                        </a:defRPr>
                      </a:pPr>
                      <a:t>[PERCENTAGE]</a:t>
                    </a:fld>
                    <a:endParaRPr lang="en-US" sz="1200" baseline="0" dirty="0"/>
                  </a:p>
                </c:rich>
              </c:tx>
              <c:spPr>
                <a:noFill/>
                <a:ln>
                  <a:noFill/>
                </a:ln>
                <a:effectLst/>
              </c:spPr>
              <c:txPr>
                <a:bodyPr rot="0" spcFirstLastPara="1" vertOverflow="ellipsis" vert="horz" wrap="square" lIns="38100" tIns="19050" rIns="38100" bIns="19050" anchor="ctr" anchorCtr="1">
                  <a:no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7.909276714494988E-2"/>
                      <c:h val="0.14301720164338913"/>
                    </c:manualLayout>
                  </c15:layout>
                  <c15:dlblFieldTable/>
                  <c15:showDataLabelsRange val="0"/>
                </c:ext>
                <c:ext xmlns:c16="http://schemas.microsoft.com/office/drawing/2014/chart" uri="{C3380CC4-5D6E-409C-BE32-E72D297353CC}">
                  <c16:uniqueId val="{0000000B-8211-41F5-9C65-F2A37A6720EE}"/>
                </c:ext>
              </c:extLst>
            </c:dLbl>
            <c:dLbl>
              <c:idx val="6"/>
              <c:tx>
                <c:rich>
                  <a:bodyPr rot="0" spcFirstLastPara="1" vertOverflow="ellipsis" vert="horz" wrap="square" lIns="38100" tIns="19050" rIns="38100" bIns="19050" anchor="ctr" anchorCtr="1">
                    <a:noAutofit/>
                  </a:bodyPr>
                  <a:lstStyle/>
                  <a:p>
                    <a:pPr>
                      <a:defRPr sz="1330" b="1" i="0" u="none" strike="noStrike" kern="1200" spc="0" baseline="0">
                        <a:solidFill>
                          <a:schemeClr val="accent1"/>
                        </a:solidFill>
                        <a:latin typeface="+mn-lt"/>
                        <a:ea typeface="+mn-ea"/>
                        <a:cs typeface="+mn-cs"/>
                      </a:defRPr>
                    </a:pPr>
                    <a:fld id="{A3C49B0E-7AB3-4E75-9382-AA031F7A1982}" type="CATEGORYNAME">
                      <a:rPr lang="en-US" sz="1200"/>
                      <a:pPr>
                        <a:defRPr>
                          <a:solidFill>
                            <a:schemeClr val="accent1"/>
                          </a:solidFill>
                        </a:defRPr>
                      </a:pPr>
                      <a:t>[CATEGORY NAME]</a:t>
                    </a:fld>
                    <a:r>
                      <a:rPr lang="en-US" sz="1200" baseline="0" dirty="0"/>
                      <a:t>
</a:t>
                    </a:r>
                    <a:fld id="{9E75F08F-5363-439E-8EF5-21F30328549F}" type="PERCENTAGE">
                      <a:rPr lang="en-US" sz="1200" baseline="0"/>
                      <a:pPr>
                        <a:defRPr>
                          <a:solidFill>
                            <a:schemeClr val="accent1"/>
                          </a:solidFill>
                        </a:defRPr>
                      </a:pPr>
                      <a:t>[PERCENTAGE]</a:t>
                    </a:fld>
                    <a:endParaRPr lang="en-US" sz="1200" baseline="0" dirty="0"/>
                  </a:p>
                </c:rich>
              </c:tx>
              <c:spPr>
                <a:noFill/>
                <a:ln>
                  <a:noFill/>
                </a:ln>
                <a:effectLst/>
              </c:spPr>
              <c:txPr>
                <a:bodyPr rot="0" spcFirstLastPara="1" vertOverflow="ellipsis" vert="horz" wrap="square" lIns="38100" tIns="19050" rIns="38100" bIns="19050" anchor="ctr" anchorCtr="1">
                  <a:no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0.2126672461185693"/>
                      <c:h val="0.21061791916340705"/>
                    </c:manualLayout>
                  </c15:layout>
                  <c15:dlblFieldTable/>
                  <c15:showDataLabelsRange val="0"/>
                </c:ext>
                <c:ext xmlns:c16="http://schemas.microsoft.com/office/drawing/2014/chart" uri="{C3380CC4-5D6E-409C-BE32-E72D297353CC}">
                  <c16:uniqueId val="{0000000D-8211-41F5-9C65-F2A37A6720EE}"/>
                </c:ext>
              </c:extLst>
            </c:dLbl>
            <c:dLbl>
              <c:idx val="7"/>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72322E95-C299-4FB2-B0DB-8D0D0C80E773}" type="CATEGORYNAME">
                      <a:rPr lang="en-US" sz="1200" smtClean="0"/>
                      <a:pPr>
                        <a:defRPr>
                          <a:solidFill>
                            <a:schemeClr val="accent1"/>
                          </a:solidFill>
                        </a:defRPr>
                      </a:pPr>
                      <a:t>[CATEGORY NAME]</a:t>
                    </a:fld>
                    <a:r>
                      <a:rPr lang="en-US" baseline="0" dirty="0"/>
                      <a:t>
</a:t>
                    </a:r>
                    <a:fld id="{19965511-5FB6-44D1-A13F-19A637F1801C}" type="PERCENTAGE">
                      <a:rPr lang="en-US" baseline="0"/>
                      <a:pPr>
                        <a:defRPr>
                          <a:solidFill>
                            <a:schemeClr val="accent1"/>
                          </a:solidFill>
                        </a:defRPr>
                      </a:pPr>
                      <a:t>[PERCENTAGE]</a:t>
                    </a:fld>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F-8211-41F5-9C65-F2A37A6720EE}"/>
                </c:ext>
              </c:extLst>
            </c:dLbl>
            <c:dLbl>
              <c:idx val="8"/>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lumMod val="60000"/>
                        </a:schemeClr>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11-8211-41F5-9C65-F2A37A6720EE}"/>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'Bright_coffee shop pivot'!$A$109:$A$118</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'Bright_coffee shop pivot'!$B$109:$B$118</c:f>
              <c:numCache>
                <c:formatCode>_-[$R-1C09]* #\ ##0_-;\-[$R-1C09]* #\ ##0_-;_-[$R-1C09]* "-"??_-;_-@_-</c:formatCode>
                <c:ptCount val="9"/>
                <c:pt idx="0">
                  <c:v>82315.640000000014</c:v>
                </c:pt>
                <c:pt idx="1">
                  <c:v>13607</c:v>
                </c:pt>
                <c:pt idx="2">
                  <c:v>269952.45000000077</c:v>
                </c:pt>
                <c:pt idx="3">
                  <c:v>40085.250000000007</c:v>
                </c:pt>
                <c:pt idx="4">
                  <c:v>72416</c:v>
                </c:pt>
                <c:pt idx="5">
                  <c:v>8408.8000000000629</c:v>
                </c:pt>
                <c:pt idx="6">
                  <c:v>11213.600000000037</c:v>
                </c:pt>
                <c:pt idx="7">
                  <c:v>4407.6399999999894</c:v>
                </c:pt>
                <c:pt idx="8">
                  <c:v>196405.95000000115</c:v>
                </c:pt>
              </c:numCache>
            </c:numRef>
          </c:val>
          <c:extLst>
            <c:ext xmlns:c16="http://schemas.microsoft.com/office/drawing/2014/chart" uri="{C3380CC4-5D6E-409C-BE32-E72D297353CC}">
              <c16:uniqueId val="{00000012-8211-41F5-9C65-F2A37A6720EE}"/>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[Case_study_project.xlsx]Bright_coffee shop pivot!PivotTable7</c:name>
    <c:fmtId val="12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Different</a:t>
            </a:r>
            <a:r>
              <a:rPr lang="en-US" baseline="0" dirty="0"/>
              <a:t> product performances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'Bright_coffee shop pivot'!$B$140</c:f>
              <c:strCache>
                <c:ptCount val="1"/>
                <c:pt idx="0">
                  <c:v>Total</c:v>
                </c:pt>
              </c:strCache>
            </c:strRef>
          </c:tx>
          <c:spPr>
            <a:solidFill>
              <a:schemeClr val="accent1"/>
            </a:solidFill>
            <a:ln>
              <a:noFill/>
            </a:ln>
            <a:effectLst/>
          </c:spPr>
          <c:invertIfNegative val="0"/>
          <c:cat>
            <c:strRef>
              <c:f>'Bright_coffee shop pivot'!$A$141:$A$221</c:f>
              <c:strCache>
                <c:ptCount val="80"/>
                <c:pt idx="0">
                  <c:v>Traditional Blend Chai Rg</c:v>
                </c:pt>
                <c:pt idx="1">
                  <c:v>Traditional Blend Chai Lg</c:v>
                </c:pt>
                <c:pt idx="2">
                  <c:v>Traditional Blend Chai</c:v>
                </c:pt>
                <c:pt idx="3">
                  <c:v>Sustainably Grown Organic Rg</c:v>
                </c:pt>
                <c:pt idx="4">
                  <c:v>Sustainably Grown Organic Lg</c:v>
                </c:pt>
                <c:pt idx="5">
                  <c:v>Sustainably Grown Organic</c:v>
                </c:pt>
                <c:pt idx="6">
                  <c:v>Sugar Free Vanilla syrup</c:v>
                </c:pt>
                <c:pt idx="7">
                  <c:v>Spicy Eye Opener Chai Rg</c:v>
                </c:pt>
                <c:pt idx="8">
                  <c:v>Spicy Eye Opener Chai Lg</c:v>
                </c:pt>
                <c:pt idx="9">
                  <c:v>Spicy Eye Opener Chai</c:v>
                </c:pt>
                <c:pt idx="10">
                  <c:v>Serenity Green Tea Rg</c:v>
                </c:pt>
                <c:pt idx="11">
                  <c:v>Serenity Green Tea Lg</c:v>
                </c:pt>
                <c:pt idx="12">
                  <c:v>Serenity Green Tea</c:v>
                </c:pt>
                <c:pt idx="13">
                  <c:v>Scottish Cream Scone</c:v>
                </c:pt>
                <c:pt idx="14">
                  <c:v>Primo Espresso Roast</c:v>
                </c:pt>
                <c:pt idx="15">
                  <c:v>Peppermint Rg</c:v>
                </c:pt>
                <c:pt idx="16">
                  <c:v>Peppermint Lg</c:v>
                </c:pt>
                <c:pt idx="17">
                  <c:v>Peppermint</c:v>
                </c:pt>
                <c:pt idx="18">
                  <c:v>Ouro Brasileiro shot</c:v>
                </c:pt>
                <c:pt idx="19">
                  <c:v>Our Old Time Diner Blend Sm</c:v>
                </c:pt>
                <c:pt idx="20">
                  <c:v>Our Old Time Diner Blend Rg</c:v>
                </c:pt>
                <c:pt idx="21">
                  <c:v>Our Old Time Diner Blend Lg</c:v>
                </c:pt>
                <c:pt idx="22">
                  <c:v>Our Old Time Diner Blend</c:v>
                </c:pt>
                <c:pt idx="23">
                  <c:v>Organic Decaf Blend</c:v>
                </c:pt>
                <c:pt idx="24">
                  <c:v>Oatmeal Scone</c:v>
                </c:pt>
                <c:pt idx="25">
                  <c:v>Morning Sunrise Chai Rg</c:v>
                </c:pt>
                <c:pt idx="26">
                  <c:v>Morning Sunrise Chai Lg</c:v>
                </c:pt>
                <c:pt idx="27">
                  <c:v>Morning Sunrise Chai</c:v>
                </c:pt>
                <c:pt idx="28">
                  <c:v>Lemon Grass Rg</c:v>
                </c:pt>
                <c:pt idx="29">
                  <c:v>Lemon Grass Lg</c:v>
                </c:pt>
                <c:pt idx="30">
                  <c:v>Lemon Grass</c:v>
                </c:pt>
                <c:pt idx="31">
                  <c:v>Latte Rg</c:v>
                </c:pt>
                <c:pt idx="32">
                  <c:v>Latte</c:v>
                </c:pt>
                <c:pt idx="33">
                  <c:v>Jumbo Savory Scone</c:v>
                </c:pt>
                <c:pt idx="34">
                  <c:v>Jamaican Coffee River Sm</c:v>
                </c:pt>
                <c:pt idx="35">
                  <c:v>Jamaican Coffee River Rg</c:v>
                </c:pt>
                <c:pt idx="36">
                  <c:v>Jamaican Coffee River Lg</c:v>
                </c:pt>
                <c:pt idx="37">
                  <c:v>Jamacian Coffee River</c:v>
                </c:pt>
                <c:pt idx="38">
                  <c:v>I Need My Bean! T-shirt</c:v>
                </c:pt>
                <c:pt idx="39">
                  <c:v>I Need My Bean! Latte cup</c:v>
                </c:pt>
                <c:pt idx="40">
                  <c:v>I Need My Bean! Diner mug</c:v>
                </c:pt>
                <c:pt idx="41">
                  <c:v>Hazelnut syrup</c:v>
                </c:pt>
                <c:pt idx="42">
                  <c:v>Hazelnut Biscotti</c:v>
                </c:pt>
                <c:pt idx="43">
                  <c:v>Guatemalan Sustainably Grown</c:v>
                </c:pt>
                <c:pt idx="44">
                  <c:v>Ginger Scone</c:v>
                </c:pt>
                <c:pt idx="45">
                  <c:v>Ginger Biscotti</c:v>
                </c:pt>
                <c:pt idx="46">
                  <c:v>Ethiopia Sm</c:v>
                </c:pt>
                <c:pt idx="47">
                  <c:v>Ethiopia Rg</c:v>
                </c:pt>
                <c:pt idx="48">
                  <c:v>Ethiopia Lg</c:v>
                </c:pt>
                <c:pt idx="49">
                  <c:v>Ethiopia</c:v>
                </c:pt>
                <c:pt idx="50">
                  <c:v>Espresso shot</c:v>
                </c:pt>
                <c:pt idx="51">
                  <c:v>Espresso Roast</c:v>
                </c:pt>
                <c:pt idx="52">
                  <c:v>English Breakfast Rg</c:v>
                </c:pt>
                <c:pt idx="53">
                  <c:v>English Breakfast Lg</c:v>
                </c:pt>
                <c:pt idx="54">
                  <c:v>English Breakfast</c:v>
                </c:pt>
                <c:pt idx="55">
                  <c:v>Earl Grey Rg</c:v>
                </c:pt>
                <c:pt idx="56">
                  <c:v>Earl Grey Lg</c:v>
                </c:pt>
                <c:pt idx="57">
                  <c:v>Earl Grey</c:v>
                </c:pt>
                <c:pt idx="58">
                  <c:v>Dark chocolate Rg</c:v>
                </c:pt>
                <c:pt idx="59">
                  <c:v>Dark chocolate Lg</c:v>
                </c:pt>
                <c:pt idx="60">
                  <c:v>Dark chocolate</c:v>
                </c:pt>
                <c:pt idx="61">
                  <c:v>Croissant</c:v>
                </c:pt>
                <c:pt idx="62">
                  <c:v>Cranberry Scone</c:v>
                </c:pt>
                <c:pt idx="63">
                  <c:v>Columbian Medium Roast Sm</c:v>
                </c:pt>
                <c:pt idx="64">
                  <c:v>Columbian Medium Roast Rg</c:v>
                </c:pt>
                <c:pt idx="65">
                  <c:v>Columbian Medium Roast Lg</c:v>
                </c:pt>
                <c:pt idx="66">
                  <c:v>Columbian Medium Roast</c:v>
                </c:pt>
                <c:pt idx="67">
                  <c:v>Civet Cat</c:v>
                </c:pt>
                <c:pt idx="68">
                  <c:v>Chocolate syrup</c:v>
                </c:pt>
                <c:pt idx="69">
                  <c:v>Chocolate Croissant</c:v>
                </c:pt>
                <c:pt idx="70">
                  <c:v>Chocolate Chip Biscotti</c:v>
                </c:pt>
                <c:pt idx="71">
                  <c:v>Chili Mayan</c:v>
                </c:pt>
                <c:pt idx="72">
                  <c:v>Carmel syrup</c:v>
                </c:pt>
                <c:pt idx="73">
                  <c:v>Cappuccino Lg</c:v>
                </c:pt>
                <c:pt idx="74">
                  <c:v>Cappuccino</c:v>
                </c:pt>
                <c:pt idx="75">
                  <c:v>Brazilian Sm</c:v>
                </c:pt>
                <c:pt idx="76">
                  <c:v>Brazilian Rg</c:v>
                </c:pt>
                <c:pt idx="77">
                  <c:v>Brazilian Lg</c:v>
                </c:pt>
                <c:pt idx="78">
                  <c:v>Brazilian - Organic</c:v>
                </c:pt>
                <c:pt idx="79">
                  <c:v>Almond Croissant</c:v>
                </c:pt>
              </c:strCache>
            </c:strRef>
          </c:cat>
          <c:val>
            <c:numRef>
              <c:f>'Bright_coffee shop pivot'!$B$141:$B$221</c:f>
              <c:numCache>
                <c:formatCode>_-[$R-1C09]* #\ ##0_-;\-[$R-1C09]* #\ ##0_-;_-[$R-1C09]* "-"??_-;_-@_-</c:formatCode>
                <c:ptCount val="80"/>
                <c:pt idx="0">
                  <c:v>11280</c:v>
                </c:pt>
                <c:pt idx="1">
                  <c:v>12522</c:v>
                </c:pt>
                <c:pt idx="2">
                  <c:v>1369.3500000000029</c:v>
                </c:pt>
                <c:pt idx="3">
                  <c:v>16233.75</c:v>
                </c:pt>
                <c:pt idx="4">
                  <c:v>21151.75</c:v>
                </c:pt>
                <c:pt idx="5">
                  <c:v>1679.5999999999954</c:v>
                </c:pt>
                <c:pt idx="6">
                  <c:v>2323.9999999999959</c:v>
                </c:pt>
                <c:pt idx="7">
                  <c:v>10636.05000000003</c:v>
                </c:pt>
                <c:pt idx="8">
                  <c:v>13652.40000000004</c:v>
                </c:pt>
                <c:pt idx="9">
                  <c:v>1335.9000000000026</c:v>
                </c:pt>
                <c:pt idx="10">
                  <c:v>11192.5</c:v>
                </c:pt>
                <c:pt idx="11">
                  <c:v>12660</c:v>
                </c:pt>
                <c:pt idx="12">
                  <c:v>1470.75</c:v>
                </c:pt>
                <c:pt idx="13">
                  <c:v>8949.4500000000007</c:v>
                </c:pt>
                <c:pt idx="14">
                  <c:v>3067.4999999999982</c:v>
                </c:pt>
                <c:pt idx="15">
                  <c:v>11410</c:v>
                </c:pt>
                <c:pt idx="16">
                  <c:v>13050</c:v>
                </c:pt>
                <c:pt idx="17">
                  <c:v>1369.3500000000022</c:v>
                </c:pt>
                <c:pt idx="18">
                  <c:v>8902.2000000000062</c:v>
                </c:pt>
                <c:pt idx="19">
                  <c:v>8968</c:v>
                </c:pt>
                <c:pt idx="20">
                  <c:v>11025</c:v>
                </c:pt>
                <c:pt idx="21">
                  <c:v>11991</c:v>
                </c:pt>
                <c:pt idx="22">
                  <c:v>3294</c:v>
                </c:pt>
                <c:pt idx="23">
                  <c:v>4657.5</c:v>
                </c:pt>
                <c:pt idx="24">
                  <c:v>5460</c:v>
                </c:pt>
                <c:pt idx="25">
                  <c:v>11607.5</c:v>
                </c:pt>
                <c:pt idx="26">
                  <c:v>17384</c:v>
                </c:pt>
                <c:pt idx="27">
                  <c:v>1596</c:v>
                </c:pt>
                <c:pt idx="28">
                  <c:v>10812.5</c:v>
                </c:pt>
                <c:pt idx="29">
                  <c:v>12267</c:v>
                </c:pt>
                <c:pt idx="30">
                  <c:v>1360.4000000000024</c:v>
                </c:pt>
                <c:pt idx="31">
                  <c:v>19112.25</c:v>
                </c:pt>
                <c:pt idx="32">
                  <c:v>17257.5</c:v>
                </c:pt>
                <c:pt idx="33">
                  <c:v>7626.62</c:v>
                </c:pt>
                <c:pt idx="34">
                  <c:v>9844.0999999999967</c:v>
                </c:pt>
                <c:pt idx="35">
                  <c:v>12455.800000000023</c:v>
                </c:pt>
                <c:pt idx="36">
                  <c:v>16481.25</c:v>
                </c:pt>
                <c:pt idx="37">
                  <c:v>2883.5</c:v>
                </c:pt>
                <c:pt idx="38">
                  <c:v>6163</c:v>
                </c:pt>
                <c:pt idx="39">
                  <c:v>4509</c:v>
                </c:pt>
                <c:pt idx="40">
                  <c:v>2935</c:v>
                </c:pt>
                <c:pt idx="41">
                  <c:v>1897.5999999999981</c:v>
                </c:pt>
                <c:pt idx="42">
                  <c:v>6608.01</c:v>
                </c:pt>
                <c:pt idx="43">
                  <c:v>1340</c:v>
                </c:pt>
                <c:pt idx="44">
                  <c:v>8011.61</c:v>
                </c:pt>
                <c:pt idx="45">
                  <c:v>6436.5600000000013</c:v>
                </c:pt>
                <c:pt idx="46">
                  <c:v>9752.5999999999749</c:v>
                </c:pt>
                <c:pt idx="47">
                  <c:v>13179</c:v>
                </c:pt>
                <c:pt idx="48">
                  <c:v>14794.5</c:v>
                </c:pt>
                <c:pt idx="49">
                  <c:v>4578</c:v>
                </c:pt>
                <c:pt idx="50">
                  <c:v>12495</c:v>
                </c:pt>
                <c:pt idx="51">
                  <c:v>2492.75</c:v>
                </c:pt>
                <c:pt idx="52">
                  <c:v>10500</c:v>
                </c:pt>
                <c:pt idx="53">
                  <c:v>12927</c:v>
                </c:pt>
                <c:pt idx="54">
                  <c:v>1440.9500000000032</c:v>
                </c:pt>
                <c:pt idx="55">
                  <c:v>11770</c:v>
                </c:pt>
                <c:pt idx="56">
                  <c:v>12735</c:v>
                </c:pt>
                <c:pt idx="57">
                  <c:v>1270.900000000003</c:v>
                </c:pt>
                <c:pt idx="58">
                  <c:v>14024.5</c:v>
                </c:pt>
                <c:pt idx="59">
                  <c:v>21006</c:v>
                </c:pt>
                <c:pt idx="60">
                  <c:v>755.19999999999879</c:v>
                </c:pt>
                <c:pt idx="61">
                  <c:v>6861.880000000001</c:v>
                </c:pt>
                <c:pt idx="62">
                  <c:v>6818.44</c:v>
                </c:pt>
                <c:pt idx="63">
                  <c:v>8356</c:v>
                </c:pt>
                <c:pt idx="64">
                  <c:v>11367.5</c:v>
                </c:pt>
                <c:pt idx="65">
                  <c:v>12585</c:v>
                </c:pt>
                <c:pt idx="66">
                  <c:v>2220</c:v>
                </c:pt>
                <c:pt idx="67">
                  <c:v>11700</c:v>
                </c:pt>
                <c:pt idx="68">
                  <c:v>2126.3999999999946</c:v>
                </c:pt>
                <c:pt idx="69">
                  <c:v>11625.98</c:v>
                </c:pt>
                <c:pt idx="70">
                  <c:v>6748.9600000000009</c:v>
                </c:pt>
                <c:pt idx="71">
                  <c:v>1972.8399999999981</c:v>
                </c:pt>
                <c:pt idx="72">
                  <c:v>2060.7999999999965</c:v>
                </c:pt>
                <c:pt idx="73">
                  <c:v>17641.75</c:v>
                </c:pt>
                <c:pt idx="74">
                  <c:v>15997.5</c:v>
                </c:pt>
                <c:pt idx="75">
                  <c:v>9481.9999999999927</c:v>
                </c:pt>
                <c:pt idx="76">
                  <c:v>13155</c:v>
                </c:pt>
                <c:pt idx="77">
                  <c:v>15109.5</c:v>
                </c:pt>
                <c:pt idx="78">
                  <c:v>3852</c:v>
                </c:pt>
                <c:pt idx="79">
                  <c:v>7168.1299999999992</c:v>
                </c:pt>
              </c:numCache>
            </c:numRef>
          </c:val>
          <c:extLst>
            <c:ext xmlns:c16="http://schemas.microsoft.com/office/drawing/2014/chart" uri="{C3380CC4-5D6E-409C-BE32-E72D297353CC}">
              <c16:uniqueId val="{00000000-DBC1-444D-AF13-3BAA4EF4CA45}"/>
            </c:ext>
          </c:extLst>
        </c:ser>
        <c:dLbls>
          <c:showLegendKey val="0"/>
          <c:showVal val="0"/>
          <c:showCatName val="0"/>
          <c:showSerName val="0"/>
          <c:showPercent val="0"/>
          <c:showBubbleSize val="0"/>
        </c:dLbls>
        <c:gapWidth val="182"/>
        <c:axId val="1105316431"/>
        <c:axId val="1105319311"/>
      </c:barChart>
      <c:catAx>
        <c:axId val="11053164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19311"/>
        <c:crosses val="autoZero"/>
        <c:auto val="1"/>
        <c:lblAlgn val="ctr"/>
        <c:lblOffset val="100"/>
        <c:noMultiLvlLbl val="0"/>
      </c:catAx>
      <c:valAx>
        <c:axId val="1105319311"/>
        <c:scaling>
          <c:orientation val="minMax"/>
        </c:scaling>
        <c:delete val="0"/>
        <c:axPos val="b"/>
        <c:majorGridlines>
          <c:spPr>
            <a:ln w="9525" cap="flat" cmpd="sng" algn="ctr">
              <a:solidFill>
                <a:schemeClr val="tx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531643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[Case_study_project (version 1).xlsx]Bright_coffee shop pivot!PivotTable1</c:name>
    <c:fmtId val="66"/>
  </c:pivotSource>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ZA"/>
              <a:t>Sales for different time buckets</a:t>
            </a:r>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'Bright_coffee shop pivot'!$B$58:$B$59</c:f>
              <c:strCache>
                <c:ptCount val="1"/>
                <c:pt idx="0">
                  <c:v>Astoria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'Bright_coffee shop pivot'!$A$60:$A$63</c:f>
              <c:strCache>
                <c:ptCount val="3"/>
                <c:pt idx="0">
                  <c:v>1. Morning</c:v>
                </c:pt>
                <c:pt idx="1">
                  <c:v>2. Afternoon</c:v>
                </c:pt>
                <c:pt idx="2">
                  <c:v>3. Evening</c:v>
                </c:pt>
              </c:strCache>
            </c:strRef>
          </c:cat>
          <c:val>
            <c:numRef>
              <c:f>'Bright_coffee shop pivot'!$B$60:$B$63</c:f>
              <c:numCache>
                <c:formatCode>_-[$R-1C09]* #\ ##0_-;\-[$R-1C09]* #\ ##0_-;_-[$R-1C09]* "-"??_-;_-@_-</c:formatCode>
                <c:ptCount val="3"/>
                <c:pt idx="0">
                  <c:v>104942.51999999971</c:v>
                </c:pt>
                <c:pt idx="1">
                  <c:v>78567.139999999868</c:v>
                </c:pt>
                <c:pt idx="2">
                  <c:v>48734.250000000022</c:v>
                </c:pt>
              </c:numCache>
            </c:numRef>
          </c:val>
          <c:extLst>
            <c:ext xmlns:c16="http://schemas.microsoft.com/office/drawing/2014/chart" uri="{C3380CC4-5D6E-409C-BE32-E72D297353CC}">
              <c16:uniqueId val="{00000000-1397-4C86-8C96-E9BABAA7C001}"/>
            </c:ext>
          </c:extLst>
        </c:ser>
        <c:ser>
          <c:idx val="1"/>
          <c:order val="1"/>
          <c:tx>
            <c:strRef>
              <c:f>'Bright_coffee shop pivot'!$C$58:$C$59</c:f>
              <c:strCache>
                <c:ptCount val="1"/>
                <c:pt idx="0">
                  <c:v>Hell's Kitchen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'Bright_coffee shop pivot'!$A$60:$A$63</c:f>
              <c:strCache>
                <c:ptCount val="3"/>
                <c:pt idx="0">
                  <c:v>1. Morning</c:v>
                </c:pt>
                <c:pt idx="1">
                  <c:v>2. Afternoon</c:v>
                </c:pt>
                <c:pt idx="2">
                  <c:v>3. Evening</c:v>
                </c:pt>
              </c:strCache>
            </c:strRef>
          </c:cat>
          <c:val>
            <c:numRef>
              <c:f>'Bright_coffee shop pivot'!$C$60:$C$63</c:f>
              <c:numCache>
                <c:formatCode>_-[$R-1C09]* #\ ##0_-;\-[$R-1C09]* #\ ##0_-;_-[$R-1C09]* "-"??_-;_-@_-</c:formatCode>
                <c:ptCount val="3"/>
                <c:pt idx="0">
                  <c:v>139443.29999999955</c:v>
                </c:pt>
                <c:pt idx="1">
                  <c:v>59012.429999999818</c:v>
                </c:pt>
                <c:pt idx="2">
                  <c:v>38055.439999999922</c:v>
                </c:pt>
              </c:numCache>
            </c:numRef>
          </c:val>
          <c:extLst>
            <c:ext xmlns:c16="http://schemas.microsoft.com/office/drawing/2014/chart" uri="{C3380CC4-5D6E-409C-BE32-E72D297353CC}">
              <c16:uniqueId val="{00000001-1397-4C86-8C96-E9BABAA7C001}"/>
            </c:ext>
          </c:extLst>
        </c:ser>
        <c:ser>
          <c:idx val="2"/>
          <c:order val="2"/>
          <c:tx>
            <c:strRef>
              <c:f>'Bright_coffee shop pivot'!$D$58:$D$59</c:f>
              <c:strCache>
                <c:ptCount val="1"/>
                <c:pt idx="0">
                  <c:v>Lower Manhattan</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'Bright_coffee shop pivot'!$A$60:$A$63</c:f>
              <c:strCache>
                <c:ptCount val="3"/>
                <c:pt idx="0">
                  <c:v>1. Morning</c:v>
                </c:pt>
                <c:pt idx="1">
                  <c:v>2. Afternoon</c:v>
                </c:pt>
                <c:pt idx="2">
                  <c:v>3. Evening</c:v>
                </c:pt>
              </c:strCache>
            </c:strRef>
          </c:cat>
          <c:val>
            <c:numRef>
              <c:f>'Bright_coffee shop pivot'!$D$60:$D$63</c:f>
              <c:numCache>
                <c:formatCode>_-[$R-1C09]* #\ ##0_-;\-[$R-1C09]* #\ ##0_-;_-[$R-1C09]* "-"??_-;_-@_-</c:formatCode>
                <c:ptCount val="3"/>
                <c:pt idx="0">
                  <c:v>143902.85000000021</c:v>
                </c:pt>
                <c:pt idx="1">
                  <c:v>67141.259999999849</c:v>
                </c:pt>
                <c:pt idx="2">
                  <c:v>19013.140000000021</c:v>
                </c:pt>
              </c:numCache>
            </c:numRef>
          </c:val>
          <c:extLst>
            <c:ext xmlns:c16="http://schemas.microsoft.com/office/drawing/2014/chart" uri="{C3380CC4-5D6E-409C-BE32-E72D297353CC}">
              <c16:uniqueId val="{00000002-1397-4C86-8C96-E9BABAA7C001}"/>
            </c:ext>
          </c:extLst>
        </c:ser>
        <c:dLbls>
          <c:dLblPos val="inEnd"/>
          <c:showLegendKey val="0"/>
          <c:showVal val="1"/>
          <c:showCatName val="0"/>
          <c:showSerName val="0"/>
          <c:showPercent val="0"/>
          <c:showBubbleSize val="0"/>
        </c:dLbls>
        <c:gapWidth val="247"/>
        <c:overlap val="-20"/>
        <c:axId val="938817375"/>
        <c:axId val="938811135"/>
      </c:barChart>
      <c:catAx>
        <c:axId val="938817375"/>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938811135"/>
        <c:crosses val="autoZero"/>
        <c:auto val="1"/>
        <c:lblAlgn val="ctr"/>
        <c:lblOffset val="100"/>
        <c:noMultiLvlLbl val="0"/>
      </c:catAx>
      <c:valAx>
        <c:axId val="938811135"/>
        <c:scaling>
          <c:orientation val="minMax"/>
        </c:scaling>
        <c:delete val="0"/>
        <c:axPos val="b"/>
        <c:majorGridlines>
          <c:spPr>
            <a:ln w="9525" cap="flat" cmpd="sng" algn="ctr">
              <a:solidFill>
                <a:schemeClr val="dk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938817375"/>
        <c:crosses val="autoZero"/>
        <c:crossBetween val="between"/>
      </c:valAx>
      <c:spPr>
        <a:pattFill prst="ltDnDiag">
          <a:fgClr>
            <a:schemeClr val="dk1">
              <a:lumMod val="15000"/>
              <a:lumOff val="85000"/>
            </a:schemeClr>
          </a:fgClr>
          <a:bgClr>
            <a:schemeClr val="lt1"/>
          </a:bgClr>
        </a:patt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[Case_study_project (version 1).xlsx]Bright_coffee shop pivot!PivotTable3</c:name>
    <c:fmtId val="102"/>
  </c:pivotSource>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dirty="0"/>
              <a:t>Sales</a:t>
            </a:r>
            <a:r>
              <a:rPr lang="en-US" baseline="0" dirty="0"/>
              <a:t> for different days of the week</a:t>
            </a:r>
            <a:endParaRPr lang="en-US" dirty="0"/>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'Bright_coffee shop pivot'!$B$79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'Bright_coffee shop pivot'!$A$80:$A$87</c:f>
              <c:strCache>
                <c:ptCount val="7"/>
                <c:pt idx="0">
                  <c:v>Mon</c:v>
                </c:pt>
                <c:pt idx="1">
                  <c:v>Tue</c:v>
                </c:pt>
                <c:pt idx="2">
                  <c:v>Wed</c:v>
                </c:pt>
                <c:pt idx="3">
                  <c:v>Thu</c:v>
                </c:pt>
                <c:pt idx="4">
                  <c:v>Fri</c:v>
                </c:pt>
                <c:pt idx="5">
                  <c:v>Sat</c:v>
                </c:pt>
                <c:pt idx="6">
                  <c:v>Sun</c:v>
                </c:pt>
              </c:strCache>
            </c:strRef>
          </c:cat>
          <c:val>
            <c:numRef>
              <c:f>'Bright_coffee shop pivot'!$B$80:$B$87</c:f>
              <c:numCache>
                <c:formatCode>_-[$R-1C09]* #\ ##0_-;\-[$R-1C09]* #\ ##0_-;_-[$R-1C09]* "-"??_-;_-@_-</c:formatCode>
                <c:ptCount val="7"/>
                <c:pt idx="0">
                  <c:v>101677.27999999984</c:v>
                </c:pt>
                <c:pt idx="1">
                  <c:v>99455.939999999639</c:v>
                </c:pt>
                <c:pt idx="2">
                  <c:v>100313.54000000005</c:v>
                </c:pt>
                <c:pt idx="3">
                  <c:v>100767.7799999998</c:v>
                </c:pt>
                <c:pt idx="4">
                  <c:v>101372.9999999998</c:v>
                </c:pt>
                <c:pt idx="5">
                  <c:v>96894.479999999778</c:v>
                </c:pt>
                <c:pt idx="6">
                  <c:v>98330.310000000012</c:v>
                </c:pt>
              </c:numCache>
            </c:numRef>
          </c:val>
          <c:extLst>
            <c:ext xmlns:c16="http://schemas.microsoft.com/office/drawing/2014/chart" uri="{C3380CC4-5D6E-409C-BE32-E72D297353CC}">
              <c16:uniqueId val="{00000000-C92E-4163-8DC4-8E17372B3459}"/>
            </c:ext>
          </c:extLst>
        </c:ser>
        <c:dLbls>
          <c:dLblPos val="outEnd"/>
          <c:showLegendKey val="0"/>
          <c:showVal val="1"/>
          <c:showCatName val="0"/>
          <c:showSerName val="0"/>
          <c:showPercent val="0"/>
          <c:showBubbleSize val="0"/>
        </c:dLbls>
        <c:gapWidth val="267"/>
        <c:overlap val="-43"/>
        <c:axId val="952276015"/>
        <c:axId val="952267375"/>
      </c:barChart>
      <c:catAx>
        <c:axId val="952276015"/>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952267375"/>
        <c:crosses val="autoZero"/>
        <c:auto val="1"/>
        <c:lblAlgn val="ctr"/>
        <c:lblOffset val="100"/>
        <c:noMultiLvlLbl val="0"/>
      </c:catAx>
      <c:valAx>
        <c:axId val="952267375"/>
        <c:scaling>
          <c:orientation val="minMax"/>
        </c:scaling>
        <c:delete val="0"/>
        <c:axPos val="l"/>
        <c:majorGridlines>
          <c:spPr>
            <a:ln w="9525" cap="flat" cmpd="sng" algn="ctr">
              <a:solidFill>
                <a:schemeClr val="dk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952276015"/>
        <c:crosses val="autoZero"/>
        <c:crossBetween val="between"/>
      </c:valAx>
      <c:spPr>
        <a:pattFill prst="ltDnDiag">
          <a:fgClr>
            <a:schemeClr val="dk1">
              <a:lumMod val="15000"/>
              <a:lumOff val="85000"/>
            </a:schemeClr>
          </a:fgClr>
          <a:bgClr>
            <a:schemeClr val="lt1"/>
          </a:bgClr>
        </a:patt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1">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6.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290E50-D3EA-4329-AA5F-AF5A5C575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6112D18-5CEB-46F3-924F-E35464AAA3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5D1AD-E24C-4E82-BC85-28527A42DCE7}" type="datetimeFigureOut">
              <a:rPr lang="en-US" smtClean="0"/>
              <a:t>4/1/2026</a:t>
            </a:fld>
            <a:endParaRPr lang="en-US" dirty="0"/>
          </a:p>
        </p:txBody>
      </p:sp>
      <p:sp>
        <p:nvSpPr>
          <p:cNvPr id="4" name="Footer Placeholder 3">
            <a:extLst>
              <a:ext uri="{FF2B5EF4-FFF2-40B4-BE49-F238E27FC236}">
                <a16:creationId xmlns:a16="http://schemas.microsoft.com/office/drawing/2014/main" id="{EB8FC0ED-2712-4B69-9F16-123F02DBF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2CBD00C-2269-4424-828A-8D893B52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0B3793-D85E-4082-925C-FAA1A2B27276}" type="slidenum">
              <a:rPr lang="en-US" smtClean="0"/>
              <a:t>‹#›</a:t>
            </a:fld>
            <a:endParaRPr lang="en-US" dirty="0"/>
          </a:p>
        </p:txBody>
      </p:sp>
    </p:spTree>
    <p:extLst>
      <p:ext uri="{BB962C8B-B14F-4D97-AF65-F5344CB8AC3E}">
        <p14:creationId xmlns:p14="http://schemas.microsoft.com/office/powerpoint/2010/main" val="223386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EA34-3951-4B6D-8DDD-B157CE00471C}" type="datetimeFigureOut">
              <a:rPr lang="en-US" smtClean="0"/>
              <a:t>4/1/2026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3E965-974B-498D-B360-83DD1F9DEB55}" type="slidenum">
              <a:rPr lang="en-US" smtClean="0"/>
              <a:t>‹#›</a:t>
            </a:fld>
            <a:endParaRPr lang="en-US" dirty="0"/>
          </a:p>
        </p:txBody>
      </p:sp>
    </p:spTree>
    <p:extLst>
      <p:ext uri="{BB962C8B-B14F-4D97-AF65-F5344CB8AC3E}">
        <p14:creationId xmlns:p14="http://schemas.microsoft.com/office/powerpoint/2010/main" val="23836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a:t>
            </a:fld>
            <a:endParaRPr lang="en-US" dirty="0"/>
          </a:p>
        </p:txBody>
      </p:sp>
    </p:spTree>
    <p:extLst>
      <p:ext uri="{BB962C8B-B14F-4D97-AF65-F5344CB8AC3E}">
        <p14:creationId xmlns:p14="http://schemas.microsoft.com/office/powerpoint/2010/main" val="228965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14</a:t>
            </a:fld>
            <a:endParaRPr lang="en-US" dirty="0"/>
          </a:p>
        </p:txBody>
      </p:sp>
    </p:spTree>
    <p:extLst>
      <p:ext uri="{BB962C8B-B14F-4D97-AF65-F5344CB8AC3E}">
        <p14:creationId xmlns:p14="http://schemas.microsoft.com/office/powerpoint/2010/main" val="2452642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noProof="0"/>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4" name="Date Placeholder 3"/>
          <p:cNvSpPr>
            <a:spLocks noGrp="1"/>
          </p:cNvSpPr>
          <p:nvPr>
            <p:ph type="dt" sz="half" idx="10"/>
          </p:nvPr>
        </p:nvSpPr>
        <p:spPr/>
        <p:txBody>
          <a:bodyPr/>
          <a:lstStyle>
            <a:lvl1pPr algn="l">
              <a:defRPr/>
            </a:lvl1pPr>
          </a:lstStyle>
          <a:p>
            <a:fld id="{9AB3A824-1A51-4B26-AD58-A6D8E14F6C04}" type="datetimeFigureOut">
              <a:rPr lang="en-US" noProof="0" smtClean="0"/>
              <a:t>4/1/2026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4515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7D162C4-EDD9-4389-A98B-B87ECEA2A816}" type="datetimeFigureOut">
              <a:rPr lang="en-US" noProof="0" smtClean="0"/>
              <a:t>4/1/2026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2306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noProof="0"/>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4/1/2026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6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noProof="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CA954B2F-12DE-47F5-8894-472B206D2E1E}" type="datetimeFigureOut">
              <a:rPr lang="en-US" noProof="0" smtClean="0"/>
              <a:t>4/1/2026</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27958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4/1/2026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86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4/1/2026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961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4/1/2026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39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4/1/2026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365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4/1/2026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0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4/1/2026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72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4/1/2026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5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BC1C18-307B-4F68-A007-B5B542270E8D}" type="datetimeFigureOut">
              <a:rPr lang="en-US" noProof="0" smtClean="0"/>
              <a:t>4/1/2026</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noProof="0" dirty="0"/>
              <a:t>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noProof="0" smtClean="0"/>
              <a:pPr/>
              <a:t>‹#›</a:t>
            </a:fld>
            <a:endParaRPr lang="en-US" noProof="0"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2846"/>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Coffee Beans">
            <a:extLst>
              <a:ext uri="{FF2B5EF4-FFF2-40B4-BE49-F238E27FC236}">
                <a16:creationId xmlns:a16="http://schemas.microsoft.com/office/drawing/2014/main" id="{291BDB91-E757-4677-A38C-EB354240C835}"/>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r="25"/>
          <a:stretch/>
        </p:blipFill>
        <p:spPr>
          <a:xfrm>
            <a:off x="13668" y="-1"/>
            <a:ext cx="12188932" cy="6858000"/>
          </a:xfrm>
          <a:prstGeom prst="rect">
            <a:avLst/>
          </a:prstGeom>
        </p:spPr>
      </p:pic>
      <p:sp>
        <p:nvSpPr>
          <p:cNvPr id="2" name="Title 1">
            <a:extLst>
              <a:ext uri="{FF2B5EF4-FFF2-40B4-BE49-F238E27FC236}">
                <a16:creationId xmlns:a16="http://schemas.microsoft.com/office/drawing/2014/main" id="{050E78D6-F072-48E7-8270-20EFBDD26F36}"/>
              </a:ext>
            </a:extLst>
          </p:cNvPr>
          <p:cNvSpPr>
            <a:spLocks noGrp="1"/>
          </p:cNvSpPr>
          <p:nvPr>
            <p:ph type="ctrTitle"/>
          </p:nvPr>
        </p:nvSpPr>
        <p:spPr>
          <a:xfrm>
            <a:off x="643467" y="643467"/>
            <a:ext cx="7164674" cy="5571066"/>
          </a:xfrm>
          <a:prstGeom prst="rect">
            <a:avLst/>
          </a:prstGeom>
        </p:spPr>
        <p:txBody>
          <a:bodyPr lIns="0" rIns="180000">
            <a:normAutofit/>
          </a:bodyPr>
          <a:lstStyle/>
          <a:p>
            <a:r>
              <a:rPr lang="en-US" sz="7200" b="1" dirty="0">
                <a:solidFill>
                  <a:schemeClr val="tx1"/>
                </a:solidFill>
              </a:rPr>
              <a:t>Bright coffee shop analysis</a:t>
            </a:r>
          </a:p>
        </p:txBody>
      </p:sp>
      <p:cxnSp>
        <p:nvCxnSpPr>
          <p:cNvPr id="20" name="Straight Connector 19">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ubtitle 4">
            <a:extLst>
              <a:ext uri="{FF2B5EF4-FFF2-40B4-BE49-F238E27FC236}">
                <a16:creationId xmlns:a16="http://schemas.microsoft.com/office/drawing/2014/main" id="{B26CBF4D-E791-8C48-4C54-AA441A4B7872}"/>
              </a:ext>
            </a:extLst>
          </p:cNvPr>
          <p:cNvSpPr>
            <a:spLocks noGrp="1"/>
          </p:cNvSpPr>
          <p:nvPr>
            <p:ph type="subTitle" idx="1"/>
          </p:nvPr>
        </p:nvSpPr>
        <p:spPr>
          <a:xfrm>
            <a:off x="8471070" y="4960137"/>
            <a:ext cx="3339930" cy="1463040"/>
          </a:xfrm>
        </p:spPr>
        <p:txBody>
          <a:bodyPr/>
          <a:lstStyle/>
          <a:p>
            <a:r>
              <a:rPr lang="en-ZA" b="1" dirty="0"/>
              <a:t>Presenter:</a:t>
            </a:r>
            <a:r>
              <a:rPr lang="en-ZA" dirty="0"/>
              <a:t> </a:t>
            </a:r>
            <a:r>
              <a:rPr lang="en-ZA" dirty="0" err="1"/>
              <a:t>Ndadlana</a:t>
            </a:r>
            <a:r>
              <a:rPr lang="en-ZA" dirty="0"/>
              <a:t> Piet Maseko</a:t>
            </a:r>
          </a:p>
        </p:txBody>
      </p:sp>
    </p:spTree>
    <p:extLst>
      <p:ext uri="{BB962C8B-B14F-4D97-AF65-F5344CB8AC3E}">
        <p14:creationId xmlns:p14="http://schemas.microsoft.com/office/powerpoint/2010/main" val="8340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C6BCF-BB43-E14B-5745-196E26C871EF}"/>
              </a:ext>
            </a:extLst>
          </p:cNvPr>
          <p:cNvSpPr>
            <a:spLocks noGrp="1"/>
          </p:cNvSpPr>
          <p:nvPr>
            <p:ph type="title"/>
          </p:nvPr>
        </p:nvSpPr>
        <p:spPr/>
        <p:txBody>
          <a:bodyPr/>
          <a:lstStyle/>
          <a:p>
            <a:r>
              <a:rPr lang="en-ZA" dirty="0"/>
              <a:t>Outline</a:t>
            </a:r>
          </a:p>
        </p:txBody>
      </p:sp>
      <p:sp>
        <p:nvSpPr>
          <p:cNvPr id="3" name="Content Placeholder 2">
            <a:extLst>
              <a:ext uri="{FF2B5EF4-FFF2-40B4-BE49-F238E27FC236}">
                <a16:creationId xmlns:a16="http://schemas.microsoft.com/office/drawing/2014/main" id="{81BDF303-5E9E-7C41-83A8-D8AB30AEDFBB}"/>
              </a:ext>
            </a:extLst>
          </p:cNvPr>
          <p:cNvSpPr>
            <a:spLocks noGrp="1"/>
          </p:cNvSpPr>
          <p:nvPr>
            <p:ph idx="1"/>
          </p:nvPr>
        </p:nvSpPr>
        <p:spPr/>
        <p:txBody>
          <a:bodyPr/>
          <a:lstStyle/>
          <a:p>
            <a:r>
              <a:rPr lang="en-ZA" dirty="0"/>
              <a:t>Introduction</a:t>
            </a:r>
          </a:p>
          <a:p>
            <a:r>
              <a:rPr lang="en-ZA" dirty="0"/>
              <a:t>Problem statement</a:t>
            </a:r>
          </a:p>
          <a:p>
            <a:r>
              <a:rPr lang="en-ZA" dirty="0"/>
              <a:t>Objectives</a:t>
            </a:r>
          </a:p>
          <a:p>
            <a:r>
              <a:rPr lang="en-ZA" dirty="0"/>
              <a:t>Results</a:t>
            </a:r>
          </a:p>
          <a:p>
            <a:r>
              <a:rPr lang="en-ZA" dirty="0"/>
              <a:t>Conclusion</a:t>
            </a:r>
          </a:p>
          <a:p>
            <a:r>
              <a:rPr lang="en-ZA" dirty="0"/>
              <a:t>Recommendations</a:t>
            </a:r>
          </a:p>
          <a:p>
            <a:endParaRPr lang="en-ZA" dirty="0"/>
          </a:p>
        </p:txBody>
      </p:sp>
    </p:spTree>
    <p:extLst>
      <p:ext uri="{BB962C8B-B14F-4D97-AF65-F5344CB8AC3E}">
        <p14:creationId xmlns:p14="http://schemas.microsoft.com/office/powerpoint/2010/main" val="327307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59889-0AA1-2C8C-6BCA-BDD8C5606FDE}"/>
              </a:ext>
            </a:extLst>
          </p:cNvPr>
          <p:cNvSpPr>
            <a:spLocks noGrp="1"/>
          </p:cNvSpPr>
          <p:nvPr>
            <p:ph type="title"/>
          </p:nvPr>
        </p:nvSpPr>
        <p:spPr/>
        <p:txBody>
          <a:bodyPr/>
          <a:lstStyle/>
          <a:p>
            <a:r>
              <a:rPr lang="en-ZA" dirty="0"/>
              <a:t>Introduction</a:t>
            </a:r>
          </a:p>
        </p:txBody>
      </p:sp>
      <p:sp>
        <p:nvSpPr>
          <p:cNvPr id="3" name="Content Placeholder 2">
            <a:extLst>
              <a:ext uri="{FF2B5EF4-FFF2-40B4-BE49-F238E27FC236}">
                <a16:creationId xmlns:a16="http://schemas.microsoft.com/office/drawing/2014/main" id="{3EEB51D2-9C01-7F43-C901-0CC150B8817A}"/>
              </a:ext>
            </a:extLst>
          </p:cNvPr>
          <p:cNvSpPr>
            <a:spLocks noGrp="1"/>
          </p:cNvSpPr>
          <p:nvPr>
            <p:ph idx="1"/>
          </p:nvPr>
        </p:nvSpPr>
        <p:spPr>
          <a:xfrm>
            <a:off x="742950" y="1847850"/>
            <a:ext cx="11277600" cy="4461510"/>
          </a:xfrm>
        </p:spPr>
        <p:txBody>
          <a:bodyPr/>
          <a:lstStyle/>
          <a:p>
            <a:r>
              <a:rPr lang="en-ZA" dirty="0"/>
              <a:t>About:</a:t>
            </a:r>
          </a:p>
          <a:p>
            <a:pPr algn="just"/>
            <a:r>
              <a:rPr lang="en-ZA" dirty="0"/>
              <a:t>Bright Coffee Shop is a retail establishment dedicated to serving customers with high quality products and exceptional service. It focuses on delivering a consistently excellent experience to every visitor.</a:t>
            </a:r>
          </a:p>
          <a:p>
            <a:pPr marL="0" indent="0">
              <a:buNone/>
            </a:pPr>
            <a:endParaRPr lang="en-ZA" dirty="0"/>
          </a:p>
          <a:p>
            <a:r>
              <a:rPr lang="en-ZA" dirty="0"/>
              <a:t>Our locations are; Astoria, Hell’s kitchen and Lower Manhattan</a:t>
            </a:r>
          </a:p>
          <a:p>
            <a:endParaRPr lang="en-ZA" dirty="0"/>
          </a:p>
        </p:txBody>
      </p:sp>
    </p:spTree>
    <p:extLst>
      <p:ext uri="{BB962C8B-B14F-4D97-AF65-F5344CB8AC3E}">
        <p14:creationId xmlns:p14="http://schemas.microsoft.com/office/powerpoint/2010/main" val="1030202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DFFFA-AD0E-A57C-F7CB-6F8D91252B1C}"/>
              </a:ext>
            </a:extLst>
          </p:cNvPr>
          <p:cNvSpPr>
            <a:spLocks noGrp="1"/>
          </p:cNvSpPr>
          <p:nvPr>
            <p:ph type="title"/>
          </p:nvPr>
        </p:nvSpPr>
        <p:spPr/>
        <p:txBody>
          <a:bodyPr/>
          <a:lstStyle/>
          <a:p>
            <a:r>
              <a:rPr lang="en-ZA" dirty="0"/>
              <a:t>Problem statement</a:t>
            </a:r>
          </a:p>
        </p:txBody>
      </p:sp>
      <p:sp>
        <p:nvSpPr>
          <p:cNvPr id="3" name="Content Placeholder 2">
            <a:extLst>
              <a:ext uri="{FF2B5EF4-FFF2-40B4-BE49-F238E27FC236}">
                <a16:creationId xmlns:a16="http://schemas.microsoft.com/office/drawing/2014/main" id="{8B91E881-C538-3A14-1EA6-C4E2A14EEBC3}"/>
              </a:ext>
            </a:extLst>
          </p:cNvPr>
          <p:cNvSpPr>
            <a:spLocks noGrp="1"/>
          </p:cNvSpPr>
          <p:nvPr>
            <p:ph idx="1"/>
          </p:nvPr>
        </p:nvSpPr>
        <p:spPr>
          <a:xfrm>
            <a:off x="1024128" y="1866900"/>
            <a:ext cx="11167872" cy="4442460"/>
          </a:xfrm>
        </p:spPr>
        <p:txBody>
          <a:bodyPr>
            <a:normAutofit/>
          </a:bodyPr>
          <a:lstStyle/>
          <a:p>
            <a:pPr algn="just"/>
            <a:r>
              <a:rPr lang="en-ZA" sz="3000" dirty="0"/>
              <a:t>Bright coffee shop is currently experiencing limited revenue growth and unacceptable product performance, which hinders its competitiveness and ability to meet market demands.</a:t>
            </a:r>
          </a:p>
        </p:txBody>
      </p:sp>
    </p:spTree>
    <p:extLst>
      <p:ext uri="{BB962C8B-B14F-4D97-AF65-F5344CB8AC3E}">
        <p14:creationId xmlns:p14="http://schemas.microsoft.com/office/powerpoint/2010/main" val="2491642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102F-F70B-2DB1-EEA8-A98AE3BFE47A}"/>
              </a:ext>
            </a:extLst>
          </p:cNvPr>
          <p:cNvSpPr>
            <a:spLocks noGrp="1"/>
          </p:cNvSpPr>
          <p:nvPr>
            <p:ph type="title"/>
          </p:nvPr>
        </p:nvSpPr>
        <p:spPr/>
        <p:txBody>
          <a:bodyPr/>
          <a:lstStyle/>
          <a:p>
            <a:r>
              <a:rPr lang="en-ZA" dirty="0"/>
              <a:t>Objectives</a:t>
            </a:r>
          </a:p>
        </p:txBody>
      </p:sp>
      <p:sp>
        <p:nvSpPr>
          <p:cNvPr id="3" name="Content Placeholder 2">
            <a:extLst>
              <a:ext uri="{FF2B5EF4-FFF2-40B4-BE49-F238E27FC236}">
                <a16:creationId xmlns:a16="http://schemas.microsoft.com/office/drawing/2014/main" id="{E847366D-B760-FFF9-5D21-E52815179DC2}"/>
              </a:ext>
            </a:extLst>
          </p:cNvPr>
          <p:cNvSpPr>
            <a:spLocks noGrp="1"/>
          </p:cNvSpPr>
          <p:nvPr>
            <p:ph idx="1"/>
          </p:nvPr>
        </p:nvSpPr>
        <p:spPr>
          <a:xfrm>
            <a:off x="1024128" y="1905000"/>
            <a:ext cx="9720073" cy="4404360"/>
          </a:xfrm>
        </p:spPr>
        <p:txBody>
          <a:bodyPr/>
          <a:lstStyle/>
          <a:p>
            <a:pPr marL="457200" indent="-457200">
              <a:buFont typeface="+mj-lt"/>
              <a:buAutoNum type="arabicPeriod"/>
            </a:pPr>
            <a:r>
              <a:rPr lang="en-ZA" dirty="0"/>
              <a:t>Which products generate the most revenue.</a:t>
            </a:r>
          </a:p>
          <a:p>
            <a:pPr marL="457200" indent="-457200">
              <a:buFont typeface="+mj-lt"/>
              <a:buAutoNum type="arabicPeriod"/>
            </a:pPr>
            <a:r>
              <a:rPr lang="en-ZA" dirty="0"/>
              <a:t>What time of day the store performs best.</a:t>
            </a:r>
          </a:p>
          <a:p>
            <a:pPr marL="457200" indent="-457200">
              <a:buFont typeface="+mj-lt"/>
              <a:buAutoNum type="arabicPeriod"/>
            </a:pPr>
            <a:r>
              <a:rPr lang="en-ZA" dirty="0"/>
              <a:t>Sales trends across products and time intervals. </a:t>
            </a:r>
          </a:p>
          <a:p>
            <a:pPr marL="457200" indent="-457200">
              <a:buFont typeface="+mj-lt"/>
              <a:buAutoNum type="arabicPeriod"/>
            </a:pPr>
            <a:r>
              <a:rPr lang="en-ZA" dirty="0"/>
              <a:t>Recommendations for improving sales performance.</a:t>
            </a:r>
          </a:p>
        </p:txBody>
      </p:sp>
    </p:spTree>
    <p:extLst>
      <p:ext uri="{BB962C8B-B14F-4D97-AF65-F5344CB8AC3E}">
        <p14:creationId xmlns:p14="http://schemas.microsoft.com/office/powerpoint/2010/main" val="2782995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AD540C-75BD-141B-2742-DC6FE95F8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DCB15-3A87-7E7C-0F9D-4BF4DF3BA75F}"/>
              </a:ext>
            </a:extLst>
          </p:cNvPr>
          <p:cNvSpPr>
            <a:spLocks noGrp="1"/>
          </p:cNvSpPr>
          <p:nvPr>
            <p:ph type="title"/>
          </p:nvPr>
        </p:nvSpPr>
        <p:spPr>
          <a:xfrm>
            <a:off x="1024128" y="585216"/>
            <a:ext cx="3133581" cy="1499616"/>
          </a:xfrm>
        </p:spPr>
        <p:txBody>
          <a:bodyPr>
            <a:normAutofit/>
          </a:bodyPr>
          <a:lstStyle/>
          <a:p>
            <a:r>
              <a:rPr lang="en-ZA" dirty="0"/>
              <a:t>Results</a:t>
            </a:r>
          </a:p>
        </p:txBody>
      </p:sp>
      <p:sp>
        <p:nvSpPr>
          <p:cNvPr id="3" name="Content Placeholder 2">
            <a:extLst>
              <a:ext uri="{FF2B5EF4-FFF2-40B4-BE49-F238E27FC236}">
                <a16:creationId xmlns:a16="http://schemas.microsoft.com/office/drawing/2014/main" id="{DDE98584-05DC-7CED-1975-FF73025295A4}"/>
              </a:ext>
            </a:extLst>
          </p:cNvPr>
          <p:cNvSpPr>
            <a:spLocks noGrp="1"/>
          </p:cNvSpPr>
          <p:nvPr>
            <p:ph idx="1"/>
          </p:nvPr>
        </p:nvSpPr>
        <p:spPr>
          <a:xfrm>
            <a:off x="1024128" y="3429000"/>
            <a:ext cx="5635124" cy="3258402"/>
          </a:xfrm>
        </p:spPr>
        <p:txBody>
          <a:bodyPr>
            <a:normAutofit/>
          </a:bodyPr>
          <a:lstStyle/>
          <a:p>
            <a:endParaRPr lang="en-ZA" sz="1600" dirty="0"/>
          </a:p>
          <a:p>
            <a:r>
              <a:rPr lang="en-ZA" sz="2800" b="1" dirty="0"/>
              <a:t>Sales by location:</a:t>
            </a:r>
          </a:p>
          <a:p>
            <a:r>
              <a:rPr lang="en-ZA" sz="2400" dirty="0"/>
              <a:t>1. </a:t>
            </a:r>
            <a:r>
              <a:rPr lang="en-ZA" sz="2400" dirty="0" err="1"/>
              <a:t>Astonia</a:t>
            </a:r>
            <a:r>
              <a:rPr lang="en-ZA" sz="2400" dirty="0"/>
              <a:t> makes 33% of the sales.</a:t>
            </a:r>
          </a:p>
          <a:p>
            <a:r>
              <a:rPr lang="en-ZA" sz="2400" dirty="0"/>
              <a:t>2. Manhattan makes 33% of the sales.</a:t>
            </a:r>
          </a:p>
          <a:p>
            <a:r>
              <a:rPr lang="en-ZA" sz="2400" dirty="0"/>
              <a:t>3. Hell’s Kitchen makes 34% of the sales.</a:t>
            </a:r>
          </a:p>
        </p:txBody>
      </p:sp>
      <p:graphicFrame>
        <p:nvGraphicFramePr>
          <p:cNvPr id="6" name="Chart 5">
            <a:extLst>
              <a:ext uri="{FF2B5EF4-FFF2-40B4-BE49-F238E27FC236}">
                <a16:creationId xmlns:a16="http://schemas.microsoft.com/office/drawing/2014/main" id="{67993BA7-CA9B-E664-7429-E61B39ABC37E}"/>
              </a:ext>
            </a:extLst>
          </p:cNvPr>
          <p:cNvGraphicFramePr>
            <a:graphicFrameLocks/>
          </p:cNvGraphicFramePr>
          <p:nvPr>
            <p:extLst>
              <p:ext uri="{D42A27DB-BD31-4B8C-83A1-F6EECF244321}">
                <p14:modId xmlns:p14="http://schemas.microsoft.com/office/powerpoint/2010/main" val="1694764569"/>
              </p:ext>
            </p:extLst>
          </p:nvPr>
        </p:nvGraphicFramePr>
        <p:xfrm>
          <a:off x="6659252" y="3429000"/>
          <a:ext cx="4572000" cy="325840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79EF9CF-3072-65E1-3D9C-D4BD245440F9}"/>
              </a:ext>
            </a:extLst>
          </p:cNvPr>
          <p:cNvSpPr txBox="1"/>
          <p:nvPr/>
        </p:nvSpPr>
        <p:spPr>
          <a:xfrm>
            <a:off x="1160060" y="1815152"/>
            <a:ext cx="11031940" cy="954107"/>
          </a:xfrm>
          <a:prstGeom prst="rect">
            <a:avLst/>
          </a:prstGeom>
          <a:noFill/>
        </p:spPr>
        <p:txBody>
          <a:bodyPr wrap="square" rtlCol="0">
            <a:spAutoFit/>
          </a:bodyPr>
          <a:lstStyle/>
          <a:p>
            <a:r>
              <a:rPr lang="en-ZA" sz="3800" b="1" dirty="0"/>
              <a:t>Total sales from 01 Jan to 30 Jun 2023 were 698 812</a:t>
            </a:r>
          </a:p>
          <a:p>
            <a:endParaRPr lang="en-ZA" dirty="0"/>
          </a:p>
        </p:txBody>
      </p:sp>
    </p:spTree>
    <p:extLst>
      <p:ext uri="{BB962C8B-B14F-4D97-AF65-F5344CB8AC3E}">
        <p14:creationId xmlns:p14="http://schemas.microsoft.com/office/powerpoint/2010/main" val="608054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81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F5143A-653B-12FF-1F79-CB9E5BE355D1}"/>
              </a:ext>
            </a:extLst>
          </p:cNvPr>
          <p:cNvSpPr>
            <a:spLocks noGrp="1"/>
          </p:cNvSpPr>
          <p:nvPr>
            <p:ph type="title"/>
          </p:nvPr>
        </p:nvSpPr>
        <p:spPr>
          <a:xfrm>
            <a:off x="239151" y="0"/>
            <a:ext cx="4409048" cy="7005711"/>
          </a:xfrm>
        </p:spPr>
        <p:txBody>
          <a:bodyPr>
            <a:normAutofit/>
          </a:bodyPr>
          <a:lstStyle/>
          <a:p>
            <a:r>
              <a:rPr lang="en-ZA" sz="3600" dirty="0">
                <a:solidFill>
                  <a:srgbClr val="FFFFFF"/>
                </a:solidFill>
              </a:rPr>
              <a:t>January 2023 makes low sales (summer month)</a:t>
            </a:r>
            <a:br>
              <a:rPr lang="en-ZA" sz="3600" dirty="0">
                <a:solidFill>
                  <a:srgbClr val="FFFFFF"/>
                </a:solidFill>
              </a:rPr>
            </a:br>
            <a:br>
              <a:rPr lang="en-ZA" sz="3600" dirty="0">
                <a:solidFill>
                  <a:srgbClr val="FFFFFF"/>
                </a:solidFill>
              </a:rPr>
            </a:br>
            <a:r>
              <a:rPr lang="en-ZA" sz="3600" dirty="0">
                <a:solidFill>
                  <a:srgbClr val="FFFFFF"/>
                </a:solidFill>
              </a:rPr>
              <a:t>February 2023 sales dips further down for all stores</a:t>
            </a:r>
            <a:br>
              <a:rPr lang="en-ZA" sz="3600" dirty="0">
                <a:solidFill>
                  <a:srgbClr val="FFFFFF"/>
                </a:solidFill>
              </a:rPr>
            </a:br>
            <a:br>
              <a:rPr lang="en-ZA" sz="3600" dirty="0">
                <a:solidFill>
                  <a:srgbClr val="FFFFFF"/>
                </a:solidFill>
              </a:rPr>
            </a:br>
            <a:r>
              <a:rPr lang="en-ZA" sz="3600" dirty="0">
                <a:solidFill>
                  <a:srgbClr val="FFFFFF"/>
                </a:solidFill>
              </a:rPr>
              <a:t>March to April 2023 sales starts gaining momentum</a:t>
            </a:r>
            <a:br>
              <a:rPr lang="en-ZA" sz="3600" dirty="0">
                <a:solidFill>
                  <a:srgbClr val="FFFFFF"/>
                </a:solidFill>
              </a:rPr>
            </a:br>
            <a:br>
              <a:rPr lang="en-ZA" sz="3600" dirty="0">
                <a:solidFill>
                  <a:srgbClr val="FFFFFF"/>
                </a:solidFill>
              </a:rPr>
            </a:br>
            <a:r>
              <a:rPr lang="en-ZA" sz="3600" dirty="0">
                <a:solidFill>
                  <a:srgbClr val="FFFFFF"/>
                </a:solidFill>
              </a:rPr>
              <a:t>May to June 2023 sales peak (winter months)</a:t>
            </a:r>
            <a:br>
              <a:rPr lang="en-ZA" sz="3600" dirty="0">
                <a:solidFill>
                  <a:srgbClr val="FFFFFF"/>
                </a:solidFill>
              </a:rPr>
            </a:br>
            <a:br>
              <a:rPr lang="en-ZA" dirty="0">
                <a:solidFill>
                  <a:srgbClr val="FFFFFF"/>
                </a:solidFill>
              </a:rPr>
            </a:br>
            <a:endParaRPr lang="en-ZA" dirty="0">
              <a:solidFill>
                <a:srgbClr val="FFFFFF"/>
              </a:solidFill>
            </a:endParaRPr>
          </a:p>
        </p:txBody>
      </p:sp>
      <p:graphicFrame>
        <p:nvGraphicFramePr>
          <p:cNvPr id="4" name="Content Placeholder 3">
            <a:extLst>
              <a:ext uri="{FF2B5EF4-FFF2-40B4-BE49-F238E27FC236}">
                <a16:creationId xmlns:a16="http://schemas.microsoft.com/office/drawing/2014/main" id="{1A233C3D-EEA6-1D6C-CC7D-C2E73AD619E7}"/>
              </a:ext>
            </a:extLst>
          </p:cNvPr>
          <p:cNvGraphicFramePr>
            <a:graphicFrameLocks noGrp="1"/>
          </p:cNvGraphicFramePr>
          <p:nvPr>
            <p:ph idx="1"/>
            <p:extLst>
              <p:ext uri="{D42A27DB-BD31-4B8C-83A1-F6EECF244321}">
                <p14:modId xmlns:p14="http://schemas.microsoft.com/office/powerpoint/2010/main" val="1202450499"/>
              </p:ext>
            </p:extLst>
          </p:nvPr>
        </p:nvGraphicFramePr>
        <p:xfrm>
          <a:off x="4887350" y="323557"/>
          <a:ext cx="6760699" cy="60491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2612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691BFF3-906B-7CAB-CA13-A41D6F4D3B33}"/>
              </a:ext>
            </a:extLst>
          </p:cNvPr>
          <p:cNvGraphicFramePr>
            <a:graphicFrameLocks/>
          </p:cNvGraphicFramePr>
          <p:nvPr>
            <p:extLst>
              <p:ext uri="{D42A27DB-BD31-4B8C-83A1-F6EECF244321}">
                <p14:modId xmlns:p14="http://schemas.microsoft.com/office/powerpoint/2010/main" val="1610421550"/>
              </p:ext>
            </p:extLst>
          </p:nvPr>
        </p:nvGraphicFramePr>
        <p:xfrm>
          <a:off x="4332849" y="1153550"/>
          <a:ext cx="7859151" cy="560597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5429D93C-6161-CACB-2CBE-79CA8E0E42B1}"/>
              </a:ext>
            </a:extLst>
          </p:cNvPr>
          <p:cNvSpPr txBox="1"/>
          <p:nvPr/>
        </p:nvSpPr>
        <p:spPr>
          <a:xfrm>
            <a:off x="196948" y="1913205"/>
            <a:ext cx="4389120" cy="4247317"/>
          </a:xfrm>
          <a:prstGeom prst="rect">
            <a:avLst/>
          </a:prstGeom>
          <a:noFill/>
        </p:spPr>
        <p:txBody>
          <a:bodyPr wrap="square" rtlCol="0">
            <a:spAutoFit/>
          </a:bodyPr>
          <a:lstStyle/>
          <a:p>
            <a:pPr marL="285750" indent="-285750" algn="just">
              <a:buFont typeface="Arial" panose="020B0604020202020204" pitchFamily="34" charset="0"/>
              <a:buChar char="•"/>
            </a:pPr>
            <a:endParaRPr lang="en-ZA" dirty="0"/>
          </a:p>
          <a:p>
            <a:pPr algn="just"/>
            <a:endParaRPr lang="en-ZA" dirty="0"/>
          </a:p>
          <a:p>
            <a:pPr marL="285750" indent="-285750" algn="just">
              <a:buFont typeface="Arial" panose="020B0604020202020204" pitchFamily="34" charset="0"/>
              <a:buChar char="•"/>
            </a:pPr>
            <a:r>
              <a:rPr lang="en-ZA" dirty="0"/>
              <a:t>Caffee accounts 39% of total sales</a:t>
            </a:r>
          </a:p>
          <a:p>
            <a:pPr marL="285750" indent="-285750" algn="just">
              <a:buFont typeface="Arial" panose="020B0604020202020204" pitchFamily="34" charset="0"/>
              <a:buChar char="•"/>
            </a:pPr>
            <a:r>
              <a:rPr lang="en-ZA" dirty="0"/>
              <a:t>Tea contributes 28% of total sales</a:t>
            </a:r>
          </a:p>
          <a:p>
            <a:pPr marL="285750" indent="-285750" algn="just">
              <a:buFont typeface="Arial" panose="020B0604020202020204" pitchFamily="34" charset="0"/>
              <a:buChar char="•"/>
            </a:pPr>
            <a:r>
              <a:rPr lang="en-ZA" dirty="0"/>
              <a:t>Bakery products made up 12% of sales</a:t>
            </a:r>
          </a:p>
          <a:p>
            <a:pPr marL="285750" indent="-285750" algn="just">
              <a:buFont typeface="Arial" panose="020B0604020202020204" pitchFamily="34" charset="0"/>
              <a:buChar char="•"/>
            </a:pPr>
            <a:r>
              <a:rPr lang="en-ZA" dirty="0"/>
              <a:t>Drinking chocolate represents 10% of  sales</a:t>
            </a:r>
          </a:p>
          <a:p>
            <a:pPr marL="285750" indent="-285750" algn="just">
              <a:buFont typeface="Arial" panose="020B0604020202020204" pitchFamily="34" charset="0"/>
              <a:buChar char="•"/>
            </a:pPr>
            <a:r>
              <a:rPr lang="en-ZA" dirty="0"/>
              <a:t>Coffee beans contributes 6% of sales</a:t>
            </a:r>
          </a:p>
          <a:p>
            <a:pPr marL="285750" indent="-285750" algn="just">
              <a:buFont typeface="Arial" panose="020B0604020202020204" pitchFamily="34" charset="0"/>
              <a:buChar char="•"/>
            </a:pPr>
            <a:r>
              <a:rPr lang="en-ZA" dirty="0"/>
              <a:t>Branded products accounts for 2% of  sales</a:t>
            </a:r>
          </a:p>
          <a:p>
            <a:pPr marL="285750" indent="-285750" algn="just">
              <a:buFont typeface="Arial" panose="020B0604020202020204" pitchFamily="34" charset="0"/>
              <a:buChar char="•"/>
            </a:pPr>
            <a:r>
              <a:rPr lang="en-ZA" dirty="0"/>
              <a:t>Packaged chocolate, loose tea and flavours each contributes 1%.</a:t>
            </a:r>
          </a:p>
          <a:p>
            <a:pPr marL="285750" indent="-285750" algn="just">
              <a:buFont typeface="Arial" panose="020B0604020202020204" pitchFamily="34" charset="0"/>
              <a:buChar char="•"/>
            </a:pPr>
            <a:endParaRPr lang="en-ZA" dirty="0"/>
          </a:p>
          <a:p>
            <a:pPr marL="285750" indent="-285750">
              <a:buFont typeface="Arial" panose="020B0604020202020204" pitchFamily="34" charset="0"/>
              <a:buChar char="•"/>
            </a:pPr>
            <a:endParaRPr lang="en-ZA" dirty="0"/>
          </a:p>
          <a:p>
            <a:endParaRPr lang="en-ZA" dirty="0"/>
          </a:p>
        </p:txBody>
      </p:sp>
    </p:spTree>
    <p:extLst>
      <p:ext uri="{BB962C8B-B14F-4D97-AF65-F5344CB8AC3E}">
        <p14:creationId xmlns:p14="http://schemas.microsoft.com/office/powerpoint/2010/main" val="3408405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8"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40" name="Straight Connector 39">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42" name="Rectangle 41">
            <a:extLst>
              <a:ext uri="{FF2B5EF4-FFF2-40B4-BE49-F238E27FC236}">
                <a16:creationId xmlns:a16="http://schemas.microsoft.com/office/drawing/2014/main" id="{C411DB08-1669-426B-BBEB-FAD285EF8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29E4219-121F-4CD1-AA58-24746CD29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52F50912-06FD-4216-BAD3-21050F5956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Chart 4">
            <a:extLst>
              <a:ext uri="{FF2B5EF4-FFF2-40B4-BE49-F238E27FC236}">
                <a16:creationId xmlns:a16="http://schemas.microsoft.com/office/drawing/2014/main" id="{2874A894-8296-ADB6-A972-E2A8FBD2A389}"/>
              </a:ext>
            </a:extLst>
          </p:cNvPr>
          <p:cNvGraphicFramePr>
            <a:graphicFrameLocks/>
          </p:cNvGraphicFramePr>
          <p:nvPr>
            <p:extLst>
              <p:ext uri="{D42A27DB-BD31-4B8C-83A1-F6EECF244321}">
                <p14:modId xmlns:p14="http://schemas.microsoft.com/office/powerpoint/2010/main" val="3733731189"/>
              </p:ext>
            </p:extLst>
          </p:nvPr>
        </p:nvGraphicFramePr>
        <p:xfrm>
          <a:off x="5505277" y="0"/>
          <a:ext cx="6586639"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D7B5F47-0CE7-629F-B455-7564BE8AD1B1}"/>
              </a:ext>
            </a:extLst>
          </p:cNvPr>
          <p:cNvSpPr txBox="1"/>
          <p:nvPr/>
        </p:nvSpPr>
        <p:spPr>
          <a:xfrm>
            <a:off x="286603" y="335151"/>
            <a:ext cx="4585110" cy="6494085"/>
          </a:xfrm>
          <a:prstGeom prst="rect">
            <a:avLst/>
          </a:prstGeom>
          <a:noFill/>
        </p:spPr>
        <p:txBody>
          <a:bodyPr wrap="square" rtlCol="0">
            <a:spAutoFit/>
          </a:bodyPr>
          <a:lstStyle/>
          <a:p>
            <a:r>
              <a:rPr lang="en-ZA" sz="2800" dirty="0"/>
              <a:t>Best selling products are:</a:t>
            </a:r>
          </a:p>
          <a:p>
            <a:pPr marL="342900" indent="-342900">
              <a:buAutoNum type="arabicPeriod"/>
            </a:pPr>
            <a:r>
              <a:rPr lang="en-ZA" dirty="0"/>
              <a:t>Sustainably Grown Organic </a:t>
            </a:r>
            <a:r>
              <a:rPr lang="en-ZA" dirty="0" err="1"/>
              <a:t>Lg</a:t>
            </a:r>
            <a:r>
              <a:rPr lang="en-ZA" dirty="0"/>
              <a:t>, with 3.03%</a:t>
            </a:r>
          </a:p>
          <a:p>
            <a:pPr marL="342900" indent="-342900">
              <a:buAutoNum type="arabicPeriod"/>
            </a:pPr>
            <a:r>
              <a:rPr lang="en-ZA" dirty="0"/>
              <a:t>Dark chocolate </a:t>
            </a:r>
            <a:r>
              <a:rPr lang="en-ZA" dirty="0" err="1"/>
              <a:t>Lg</a:t>
            </a:r>
            <a:r>
              <a:rPr lang="en-ZA" dirty="0"/>
              <a:t>, with 3.01%</a:t>
            </a:r>
          </a:p>
          <a:p>
            <a:pPr marL="342900" indent="-342900">
              <a:buAutoNum type="arabicPeriod"/>
            </a:pPr>
            <a:r>
              <a:rPr lang="en-ZA" dirty="0"/>
              <a:t>Latte </a:t>
            </a:r>
            <a:r>
              <a:rPr lang="en-ZA" dirty="0" err="1"/>
              <a:t>Rg</a:t>
            </a:r>
            <a:r>
              <a:rPr lang="en-ZA" dirty="0"/>
              <a:t>, with 2.73%</a:t>
            </a:r>
          </a:p>
          <a:p>
            <a:pPr marL="342900" indent="-342900">
              <a:buAutoNum type="arabicPeriod"/>
            </a:pPr>
            <a:r>
              <a:rPr lang="en-ZA" dirty="0"/>
              <a:t>Cappuccino </a:t>
            </a:r>
            <a:r>
              <a:rPr lang="en-ZA" dirty="0" err="1"/>
              <a:t>Lg</a:t>
            </a:r>
            <a:r>
              <a:rPr lang="en-ZA" dirty="0"/>
              <a:t>, with 2.52%</a:t>
            </a:r>
          </a:p>
          <a:p>
            <a:pPr marL="342900" indent="-342900">
              <a:buAutoNum type="arabicPeriod"/>
            </a:pPr>
            <a:r>
              <a:rPr lang="en-ZA" dirty="0"/>
              <a:t>Morning sunrise chai </a:t>
            </a:r>
            <a:r>
              <a:rPr lang="en-ZA" dirty="0" err="1"/>
              <a:t>Lg</a:t>
            </a:r>
            <a:r>
              <a:rPr lang="en-ZA" dirty="0"/>
              <a:t>, with 2.49% </a:t>
            </a:r>
          </a:p>
          <a:p>
            <a:endParaRPr lang="en-ZA" dirty="0"/>
          </a:p>
          <a:p>
            <a:endParaRPr lang="en-ZA" dirty="0"/>
          </a:p>
          <a:p>
            <a:endParaRPr lang="en-ZA" dirty="0"/>
          </a:p>
          <a:p>
            <a:endParaRPr lang="en-ZA" dirty="0"/>
          </a:p>
          <a:p>
            <a:endParaRPr lang="en-ZA" dirty="0"/>
          </a:p>
          <a:p>
            <a:endParaRPr lang="en-ZA" dirty="0"/>
          </a:p>
          <a:p>
            <a:r>
              <a:rPr lang="en-ZA" sz="2800" dirty="0"/>
              <a:t>Worst selling products are:</a:t>
            </a:r>
          </a:p>
          <a:p>
            <a:pPr marL="342900" indent="-342900">
              <a:buAutoNum type="arabicPeriod"/>
            </a:pPr>
            <a:r>
              <a:rPr lang="en-ZA" dirty="0"/>
              <a:t>Dark chocolate, with 0.11%</a:t>
            </a:r>
          </a:p>
          <a:p>
            <a:pPr marL="342900" indent="-342900">
              <a:buAutoNum type="arabicPeriod"/>
            </a:pPr>
            <a:r>
              <a:rPr lang="en-ZA" dirty="0"/>
              <a:t> Earl Grey, with 0.18%</a:t>
            </a:r>
          </a:p>
          <a:p>
            <a:pPr marL="342900" indent="-342900">
              <a:buAutoNum type="arabicPeriod"/>
            </a:pPr>
            <a:r>
              <a:rPr lang="en-ZA" dirty="0"/>
              <a:t>Spicy Eye Opener Chai, with 0.19%</a:t>
            </a:r>
          </a:p>
          <a:p>
            <a:pPr marL="342900" indent="-342900">
              <a:buAutoNum type="arabicPeriod"/>
            </a:pPr>
            <a:r>
              <a:rPr lang="en-ZA" dirty="0" err="1"/>
              <a:t>Gautemalan</a:t>
            </a:r>
            <a:r>
              <a:rPr lang="en-ZA" dirty="0"/>
              <a:t> Sustainably Grown, with 0.19%</a:t>
            </a:r>
          </a:p>
          <a:p>
            <a:pPr marL="342900" indent="-342900">
              <a:buAutoNum type="arabicPeriod"/>
            </a:pPr>
            <a:r>
              <a:rPr lang="en-ZA" dirty="0"/>
              <a:t>Lemon Grass, with 0.19% </a:t>
            </a:r>
          </a:p>
          <a:p>
            <a:pPr marL="342900" indent="-342900">
              <a:buAutoNum type="arabicPeriod"/>
            </a:pPr>
            <a:endParaRPr lang="en-ZA" dirty="0"/>
          </a:p>
          <a:p>
            <a:r>
              <a:rPr lang="en-ZA" dirty="0"/>
              <a:t> </a:t>
            </a:r>
          </a:p>
          <a:p>
            <a:endParaRPr lang="en-ZA" dirty="0"/>
          </a:p>
        </p:txBody>
      </p:sp>
    </p:spTree>
    <p:extLst>
      <p:ext uri="{BB962C8B-B14F-4D97-AF65-F5344CB8AC3E}">
        <p14:creationId xmlns:p14="http://schemas.microsoft.com/office/powerpoint/2010/main" val="2266011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1"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32" name="Straight Connector 31">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3" name="Rectangle 32">
            <a:extLst>
              <a:ext uri="{FF2B5EF4-FFF2-40B4-BE49-F238E27FC236}">
                <a16:creationId xmlns:a16="http://schemas.microsoft.com/office/drawing/2014/main" id="{C411DB08-1669-426B-BBEB-FAD285EF8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29E4219-121F-4CD1-AA58-24746CD29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52F50912-06FD-4216-BAD3-21050F5956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EAD6BDE7-AE96-1C20-B304-1891A42A3359}"/>
              </a:ext>
            </a:extLst>
          </p:cNvPr>
          <p:cNvGraphicFramePr>
            <a:graphicFrameLocks/>
          </p:cNvGraphicFramePr>
          <p:nvPr>
            <p:extLst>
              <p:ext uri="{D42A27DB-BD31-4B8C-83A1-F6EECF244321}">
                <p14:modId xmlns:p14="http://schemas.microsoft.com/office/powerpoint/2010/main" val="4165592666"/>
              </p:ext>
            </p:extLst>
          </p:nvPr>
        </p:nvGraphicFramePr>
        <p:xfrm>
          <a:off x="5585574" y="122829"/>
          <a:ext cx="6483596" cy="6578221"/>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6E85F5D3-E47E-25AA-136B-E6D950E3F0B6}"/>
              </a:ext>
            </a:extLst>
          </p:cNvPr>
          <p:cNvSpPr txBox="1"/>
          <p:nvPr/>
        </p:nvSpPr>
        <p:spPr>
          <a:xfrm>
            <a:off x="122830" y="122830"/>
            <a:ext cx="5339914" cy="2585323"/>
          </a:xfrm>
          <a:prstGeom prst="rect">
            <a:avLst/>
          </a:prstGeom>
          <a:noFill/>
        </p:spPr>
        <p:txBody>
          <a:bodyPr wrap="square" rtlCol="0">
            <a:spAutoFit/>
          </a:bodyPr>
          <a:lstStyle/>
          <a:p>
            <a:r>
              <a:rPr lang="en-ZA" sz="2400" dirty="0"/>
              <a:t>Morning sales: 00:00:00 to 11:59:59</a:t>
            </a:r>
          </a:p>
          <a:p>
            <a:pPr marL="285750" indent="-285750">
              <a:buFont typeface="Arial" panose="020B0604020202020204" pitchFamily="34" charset="0"/>
              <a:buChar char="•"/>
            </a:pPr>
            <a:r>
              <a:rPr lang="en-ZA" dirty="0"/>
              <a:t>Highest sales across the stores</a:t>
            </a:r>
          </a:p>
          <a:p>
            <a:pPr marL="285750" indent="-285750">
              <a:buFont typeface="Arial" panose="020B0604020202020204" pitchFamily="34" charset="0"/>
              <a:buChar char="•"/>
            </a:pPr>
            <a:endParaRPr lang="en-ZA" dirty="0"/>
          </a:p>
          <a:p>
            <a:r>
              <a:rPr lang="en-ZA" sz="2400" dirty="0"/>
              <a:t>Afternoon sales: 12:00:00 to 16:59:59</a:t>
            </a:r>
            <a:endParaRPr lang="en-ZA" dirty="0"/>
          </a:p>
          <a:p>
            <a:pPr marL="285750" indent="-285750">
              <a:buFont typeface="Arial" panose="020B0604020202020204" pitchFamily="34" charset="0"/>
              <a:buChar char="•"/>
            </a:pPr>
            <a:r>
              <a:rPr lang="en-ZA" dirty="0"/>
              <a:t>Sales decrease substantially</a:t>
            </a:r>
          </a:p>
          <a:p>
            <a:pPr marL="285750" indent="-285750">
              <a:buFont typeface="Arial" panose="020B0604020202020204" pitchFamily="34" charset="0"/>
              <a:buChar char="•"/>
            </a:pPr>
            <a:endParaRPr lang="en-ZA" dirty="0"/>
          </a:p>
          <a:p>
            <a:r>
              <a:rPr lang="en-ZA" sz="2400" dirty="0"/>
              <a:t>Evening: 17:00:00 to 23:59:59</a:t>
            </a:r>
          </a:p>
          <a:p>
            <a:pPr marL="285750" indent="-285750">
              <a:buFont typeface="Arial" panose="020B0604020202020204" pitchFamily="34" charset="0"/>
              <a:buChar char="•"/>
            </a:pPr>
            <a:r>
              <a:rPr lang="en-ZA" dirty="0"/>
              <a:t>Sales reaches the lowest across all the stores   </a:t>
            </a:r>
          </a:p>
        </p:txBody>
      </p:sp>
    </p:spTree>
    <p:extLst>
      <p:ext uri="{BB962C8B-B14F-4D97-AF65-F5344CB8AC3E}">
        <p14:creationId xmlns:p14="http://schemas.microsoft.com/office/powerpoint/2010/main" val="3608383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BDCCE6-C0DA-CE92-E8EE-CB6B0AF27051}"/>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4542EF07-9BFD-7ECC-CDC6-6E40185EBC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1" name="Oval 5">
            <a:extLst>
              <a:ext uri="{FF2B5EF4-FFF2-40B4-BE49-F238E27FC236}">
                <a16:creationId xmlns:a16="http://schemas.microsoft.com/office/drawing/2014/main" id="{BA3CA84B-2C8F-46ED-D74F-1A8025540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32" name="Straight Connector 31">
            <a:extLst>
              <a:ext uri="{FF2B5EF4-FFF2-40B4-BE49-F238E27FC236}">
                <a16:creationId xmlns:a16="http://schemas.microsoft.com/office/drawing/2014/main" id="{42804B9A-9FB2-BAE9-33D8-CE10F2F66C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3" name="Rectangle 32">
            <a:extLst>
              <a:ext uri="{FF2B5EF4-FFF2-40B4-BE49-F238E27FC236}">
                <a16:creationId xmlns:a16="http://schemas.microsoft.com/office/drawing/2014/main" id="{1C863EE2-3269-AF70-D0F7-411B22639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E84185E-A3A1-DCAF-09D5-D2B854C63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1D13A8F1-80C5-3127-B137-B02E389701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01705B4-4B19-8273-376E-B86A56140F2A}"/>
              </a:ext>
            </a:extLst>
          </p:cNvPr>
          <p:cNvSpPr txBox="1"/>
          <p:nvPr/>
        </p:nvSpPr>
        <p:spPr>
          <a:xfrm>
            <a:off x="122830" y="122830"/>
            <a:ext cx="5339914" cy="3539430"/>
          </a:xfrm>
          <a:prstGeom prst="rect">
            <a:avLst/>
          </a:prstGeom>
          <a:noFill/>
        </p:spPr>
        <p:txBody>
          <a:bodyPr wrap="square" rtlCol="0">
            <a:spAutoFit/>
          </a:bodyPr>
          <a:lstStyle/>
          <a:p>
            <a:pPr marL="285750" indent="-285750">
              <a:buFont typeface="Arial" panose="020B0604020202020204" pitchFamily="34" charset="0"/>
              <a:buChar char="•"/>
            </a:pPr>
            <a:r>
              <a:rPr lang="en-ZA" sz="2800" dirty="0"/>
              <a:t>Monday: highest sales recorded </a:t>
            </a:r>
          </a:p>
          <a:p>
            <a:pPr marL="285750" indent="-285750">
              <a:buFont typeface="Arial" panose="020B0604020202020204" pitchFamily="34" charset="0"/>
              <a:buChar char="•"/>
            </a:pPr>
            <a:r>
              <a:rPr lang="en-ZA" sz="2800" dirty="0"/>
              <a:t>Tuesday, sales declined significantly</a:t>
            </a:r>
          </a:p>
          <a:p>
            <a:pPr marL="285750" indent="-285750">
              <a:buFont typeface="Arial" panose="020B0604020202020204" pitchFamily="34" charset="0"/>
              <a:buChar char="•"/>
            </a:pPr>
            <a:r>
              <a:rPr lang="en-ZA" sz="2800" dirty="0"/>
              <a:t>Wednesday to Friday, gradual increase in sales momentum</a:t>
            </a:r>
          </a:p>
          <a:p>
            <a:pPr marL="285750" indent="-285750">
              <a:buFont typeface="Arial" panose="020B0604020202020204" pitchFamily="34" charset="0"/>
              <a:buChar char="•"/>
            </a:pPr>
            <a:r>
              <a:rPr lang="en-ZA" sz="2800" dirty="0"/>
              <a:t>Weekend, lower overall sales, with Saturday recording the lowest </a:t>
            </a:r>
          </a:p>
        </p:txBody>
      </p:sp>
      <p:graphicFrame>
        <p:nvGraphicFramePr>
          <p:cNvPr id="5" name="Chart 4">
            <a:extLst>
              <a:ext uri="{FF2B5EF4-FFF2-40B4-BE49-F238E27FC236}">
                <a16:creationId xmlns:a16="http://schemas.microsoft.com/office/drawing/2014/main" id="{1AA9B8DE-2ED7-B27F-2137-E117EFE2D107}"/>
              </a:ext>
            </a:extLst>
          </p:cNvPr>
          <p:cNvGraphicFramePr>
            <a:graphicFrameLocks/>
          </p:cNvGraphicFramePr>
          <p:nvPr>
            <p:extLst>
              <p:ext uri="{D42A27DB-BD31-4B8C-83A1-F6EECF244321}">
                <p14:modId xmlns:p14="http://schemas.microsoft.com/office/powerpoint/2010/main" val="965624923"/>
              </p:ext>
            </p:extLst>
          </p:nvPr>
        </p:nvGraphicFramePr>
        <p:xfrm>
          <a:off x="5505278" y="1388659"/>
          <a:ext cx="6563892" cy="3347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4065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D3C4-4F6E-807B-FE9E-D3BEFD4B4360}"/>
              </a:ext>
            </a:extLst>
          </p:cNvPr>
          <p:cNvSpPr>
            <a:spLocks noGrp="1"/>
          </p:cNvSpPr>
          <p:nvPr>
            <p:ph type="title"/>
          </p:nvPr>
        </p:nvSpPr>
        <p:spPr/>
        <p:txBody>
          <a:bodyPr/>
          <a:lstStyle/>
          <a:p>
            <a:r>
              <a:rPr lang="en-ZA" dirty="0"/>
              <a:t>Conclusion</a:t>
            </a:r>
          </a:p>
        </p:txBody>
      </p:sp>
      <p:sp>
        <p:nvSpPr>
          <p:cNvPr id="4" name="TextBox 3">
            <a:extLst>
              <a:ext uri="{FF2B5EF4-FFF2-40B4-BE49-F238E27FC236}">
                <a16:creationId xmlns:a16="http://schemas.microsoft.com/office/drawing/2014/main" id="{A1CC5F58-8274-0672-676F-BEAE2323A51D}"/>
              </a:ext>
            </a:extLst>
          </p:cNvPr>
          <p:cNvSpPr txBox="1"/>
          <p:nvPr/>
        </p:nvSpPr>
        <p:spPr>
          <a:xfrm>
            <a:off x="666750" y="1951630"/>
            <a:ext cx="11220450" cy="4585871"/>
          </a:xfrm>
          <a:prstGeom prst="rect">
            <a:avLst/>
          </a:prstGeom>
          <a:noFill/>
        </p:spPr>
        <p:txBody>
          <a:bodyPr wrap="square">
            <a:spAutoFit/>
          </a:bodyPr>
          <a:lstStyle/>
          <a:p>
            <a:pPr lvl="1"/>
            <a:endParaRPr lang="en-ZA" dirty="0"/>
          </a:p>
          <a:p>
            <a:pPr marL="285750" indent="-285750" algn="just">
              <a:buFont typeface="Arial" panose="020B0604020202020204" pitchFamily="34" charset="0"/>
              <a:buChar char="•"/>
            </a:pPr>
            <a:r>
              <a:rPr lang="en-ZA" sz="2800" dirty="0"/>
              <a:t>Coffee generates the highest revenue, contributing 39% of the total sales.</a:t>
            </a:r>
          </a:p>
          <a:p>
            <a:pPr marL="285750" indent="-285750" algn="just">
              <a:buFont typeface="Arial" panose="020B0604020202020204" pitchFamily="34" charset="0"/>
              <a:buChar char="•"/>
            </a:pPr>
            <a:r>
              <a:rPr lang="en-ZA" sz="2800" dirty="0"/>
              <a:t>Mornings account for 56% of the overall sales performance.</a:t>
            </a:r>
          </a:p>
          <a:p>
            <a:pPr marL="285750" indent="-285750" algn="just">
              <a:buFont typeface="Arial" panose="020B0604020202020204" pitchFamily="34" charset="0"/>
              <a:buChar char="•"/>
            </a:pPr>
            <a:r>
              <a:rPr lang="en-ZA" sz="2800" dirty="0"/>
              <a:t>Sales were lower during the summer months and gradually increased as winter approached (June 2023). The total sales per store were;</a:t>
            </a:r>
          </a:p>
          <a:p>
            <a:pPr marL="742950" lvl="1" indent="-285750" algn="just">
              <a:buFont typeface="Arial" panose="020B0604020202020204" pitchFamily="34" charset="0"/>
              <a:buChar char="•"/>
            </a:pPr>
            <a:r>
              <a:rPr lang="en-ZA" sz="2800" dirty="0"/>
              <a:t>Astoria: 33%</a:t>
            </a:r>
          </a:p>
          <a:p>
            <a:pPr marL="742950" lvl="1" indent="-285750" algn="just">
              <a:buFont typeface="Arial" panose="020B0604020202020204" pitchFamily="34" charset="0"/>
              <a:buChar char="•"/>
            </a:pPr>
            <a:r>
              <a:rPr lang="en-ZA" sz="2800" dirty="0"/>
              <a:t>Lower Manhattan: 33%</a:t>
            </a:r>
          </a:p>
          <a:p>
            <a:pPr marL="742950" lvl="1" indent="-285750" algn="just">
              <a:buFont typeface="Arial" panose="020B0604020202020204" pitchFamily="34" charset="0"/>
              <a:buChar char="•"/>
            </a:pPr>
            <a:r>
              <a:rPr lang="en-ZA" sz="2800" dirty="0"/>
              <a:t>Hell’s kitchen: 34%</a:t>
            </a:r>
          </a:p>
          <a:p>
            <a:pPr marL="285750" indent="-285750">
              <a:buFont typeface="Arial" panose="020B0604020202020204" pitchFamily="34" charset="0"/>
              <a:buChar char="•"/>
            </a:pPr>
            <a:endParaRPr lang="en-ZA" sz="2400" dirty="0"/>
          </a:p>
          <a:p>
            <a:endParaRPr lang="en-ZA" dirty="0"/>
          </a:p>
          <a:p>
            <a:r>
              <a:rPr lang="en-ZA" dirty="0"/>
              <a:t>  </a:t>
            </a:r>
          </a:p>
          <a:p>
            <a:pPr marL="457200" indent="-457200">
              <a:buFont typeface="+mj-lt"/>
              <a:buAutoNum type="arabicPeriod"/>
            </a:pPr>
            <a:endParaRPr lang="en-ZA" dirty="0"/>
          </a:p>
        </p:txBody>
      </p:sp>
    </p:spTree>
    <p:extLst>
      <p:ext uri="{BB962C8B-B14F-4D97-AF65-F5344CB8AC3E}">
        <p14:creationId xmlns:p14="http://schemas.microsoft.com/office/powerpoint/2010/main" val="3772261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1EF82-27A2-2EFF-1752-181E2A1A171D}"/>
              </a:ext>
            </a:extLst>
          </p:cNvPr>
          <p:cNvSpPr>
            <a:spLocks noGrp="1"/>
          </p:cNvSpPr>
          <p:nvPr>
            <p:ph type="title"/>
          </p:nvPr>
        </p:nvSpPr>
        <p:spPr/>
        <p:txBody>
          <a:bodyPr/>
          <a:lstStyle/>
          <a:p>
            <a:r>
              <a:rPr lang="en-ZA" dirty="0"/>
              <a:t>Recommendations</a:t>
            </a:r>
          </a:p>
        </p:txBody>
      </p:sp>
      <p:sp>
        <p:nvSpPr>
          <p:cNvPr id="3" name="TextBox 2">
            <a:extLst>
              <a:ext uri="{FF2B5EF4-FFF2-40B4-BE49-F238E27FC236}">
                <a16:creationId xmlns:a16="http://schemas.microsoft.com/office/drawing/2014/main" id="{01C7EFF2-C3F0-8716-3053-6C259958BACA}"/>
              </a:ext>
            </a:extLst>
          </p:cNvPr>
          <p:cNvSpPr txBox="1"/>
          <p:nvPr/>
        </p:nvSpPr>
        <p:spPr>
          <a:xfrm>
            <a:off x="819150" y="1924050"/>
            <a:ext cx="11372850" cy="4031873"/>
          </a:xfrm>
          <a:prstGeom prst="rect">
            <a:avLst/>
          </a:prstGeom>
          <a:noFill/>
        </p:spPr>
        <p:txBody>
          <a:bodyPr wrap="square" rtlCol="0">
            <a:spAutoFit/>
          </a:bodyPr>
          <a:lstStyle/>
          <a:p>
            <a:pPr marL="514350" indent="-514350" algn="just">
              <a:buFont typeface="Arial" panose="020B0604020202020204" pitchFamily="34" charset="0"/>
              <a:buChar char="•"/>
            </a:pPr>
            <a:r>
              <a:rPr lang="en-ZA" sz="3200" dirty="0"/>
              <a:t>Make combo deals with coffee as part to increase sales of other products</a:t>
            </a:r>
          </a:p>
          <a:p>
            <a:pPr marL="514350" indent="-514350" algn="just">
              <a:buFont typeface="Arial" panose="020B0604020202020204" pitchFamily="34" charset="0"/>
              <a:buChar char="•"/>
            </a:pPr>
            <a:r>
              <a:rPr lang="en-ZA" sz="3200" dirty="0"/>
              <a:t>Make sure there is always enough staff on peak times (Mornings) and introduce specials</a:t>
            </a:r>
          </a:p>
          <a:p>
            <a:pPr marL="514350" indent="-514350" algn="just">
              <a:buFont typeface="Arial" panose="020B0604020202020204" pitchFamily="34" charset="0"/>
              <a:buChar char="•"/>
            </a:pPr>
            <a:r>
              <a:rPr lang="en-ZA" sz="3200" dirty="0"/>
              <a:t>Make promotions on non peak hours (Evenings)</a:t>
            </a:r>
          </a:p>
          <a:p>
            <a:pPr marL="514350" indent="-514350" algn="just">
              <a:buFont typeface="Arial" panose="020B0604020202020204" pitchFamily="34" charset="0"/>
              <a:buChar char="•"/>
            </a:pPr>
            <a:r>
              <a:rPr lang="en-ZA" sz="3200" dirty="0"/>
              <a:t>Replicate what is happening at Hell’s kitchen to other stores since it caries large portions of sales</a:t>
            </a:r>
          </a:p>
          <a:p>
            <a:pPr marL="514350" indent="-514350" algn="just">
              <a:buFont typeface="Arial" panose="020B0604020202020204" pitchFamily="34" charset="0"/>
              <a:buChar char="•"/>
            </a:pPr>
            <a:r>
              <a:rPr lang="en-ZA" sz="3200" dirty="0"/>
              <a:t>Introduce products that will blend well with other seasons</a:t>
            </a:r>
          </a:p>
        </p:txBody>
      </p:sp>
    </p:spTree>
    <p:extLst>
      <p:ext uri="{BB962C8B-B14F-4D97-AF65-F5344CB8AC3E}">
        <p14:creationId xmlns:p14="http://schemas.microsoft.com/office/powerpoint/2010/main" val="595750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063F05-99EF-4DA3-B595-4E26670F2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gradFill>
            <a:gsLst>
              <a:gs pos="0">
                <a:schemeClr val="accent6">
                  <a:lumMod val="50000"/>
                </a:schemeClr>
              </a:gs>
              <a:gs pos="100000">
                <a:schemeClr val="bg1"/>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904461-E85A-43E7-AA0B-B7DF596CA62F}"/>
              </a:ext>
            </a:extLst>
          </p:cNvPr>
          <p:cNvSpPr>
            <a:spLocks noGrp="1"/>
          </p:cNvSpPr>
          <p:nvPr>
            <p:ph type="title"/>
          </p:nvPr>
        </p:nvSpPr>
        <p:spPr>
          <a:xfrm>
            <a:off x="1024129" y="585216"/>
            <a:ext cx="3779085" cy="1499616"/>
          </a:xfrm>
          <a:prstGeom prst="rect">
            <a:avLst/>
          </a:prstGeom>
        </p:spPr>
        <p:txBody>
          <a:bodyPr lIns="0" tIns="108000">
            <a:normAutofit/>
          </a:bodyPr>
          <a:lstStyle/>
          <a:p>
            <a:r>
              <a:rPr lang="en-US" sz="5400" b="1" dirty="0">
                <a:solidFill>
                  <a:srgbClr val="FFFFFF"/>
                </a:solidFill>
              </a:rPr>
              <a:t>Thank You</a:t>
            </a:r>
          </a:p>
        </p:txBody>
      </p:sp>
      <p:cxnSp>
        <p:nvCxnSpPr>
          <p:cNvPr id="12" name="Straight Connector 11">
            <a:extLst>
              <a:ext uri="{FF2B5EF4-FFF2-40B4-BE49-F238E27FC236}">
                <a16:creationId xmlns:a16="http://schemas.microsoft.com/office/drawing/2014/main" id="{E0A835C2-2B9B-4174-AA2C-60A4F13119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D39F4A"/>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BDDBE1-00CD-4A90-9BA9-5E79F6C6FDE0}"/>
              </a:ext>
            </a:extLst>
          </p:cNvPr>
          <p:cNvSpPr>
            <a:spLocks noGrp="1"/>
          </p:cNvSpPr>
          <p:nvPr>
            <p:ph idx="1"/>
          </p:nvPr>
        </p:nvSpPr>
        <p:spPr>
          <a:xfrm>
            <a:off x="1466258" y="2286000"/>
            <a:ext cx="3791711" cy="3931920"/>
          </a:xfrm>
          <a:prstGeom prst="rect">
            <a:avLst/>
          </a:prstGeom>
        </p:spPr>
        <p:txBody>
          <a:bodyPr>
            <a:normAutofit/>
          </a:bodyPr>
          <a:lstStyle/>
          <a:p>
            <a:r>
              <a:rPr lang="en-US" dirty="0">
                <a:solidFill>
                  <a:srgbClr val="FFFFFF"/>
                </a:solidFill>
              </a:rPr>
              <a:t>Email</a:t>
            </a:r>
            <a:br>
              <a:rPr lang="en-US" dirty="0">
                <a:solidFill>
                  <a:srgbClr val="FFFFFF"/>
                </a:solidFill>
              </a:rPr>
            </a:br>
            <a:r>
              <a:rPr lang="en-US" dirty="0">
                <a:solidFill>
                  <a:srgbClr val="FFFFFF"/>
                </a:solidFill>
              </a:rPr>
              <a:t>masekondadlana@gmail.com</a:t>
            </a:r>
            <a:endParaRPr lang="en-US" b="1" dirty="0">
              <a:solidFill>
                <a:srgbClr val="FFFFFF"/>
              </a:solidFill>
            </a:endParaRPr>
          </a:p>
          <a:p>
            <a:pPr marL="0" indent="0">
              <a:buNone/>
            </a:pPr>
            <a:endParaRPr lang="en-US" dirty="0">
              <a:solidFill>
                <a:srgbClr val="FFFFFF"/>
              </a:solidFill>
            </a:endParaRPr>
          </a:p>
        </p:txBody>
      </p:sp>
      <p:pic>
        <p:nvPicPr>
          <p:cNvPr id="5" name="Picture 4" descr="Restaurant Open Sign">
            <a:extLst>
              <a:ext uri="{FF2B5EF4-FFF2-40B4-BE49-F238E27FC236}">
                <a16:creationId xmlns:a16="http://schemas.microsoft.com/office/drawing/2014/main" id="{4BB88093-7048-42AA-9AFC-B007B4E797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68548" y="10"/>
            <a:ext cx="6723452" cy="6857990"/>
          </a:xfrm>
          <a:prstGeom prst="rect">
            <a:avLst/>
          </a:prstGeom>
        </p:spPr>
      </p:pic>
      <p:pic>
        <p:nvPicPr>
          <p:cNvPr id="7" name="Graphic 6" descr="Envelope">
            <a:extLst>
              <a:ext uri="{FF2B5EF4-FFF2-40B4-BE49-F238E27FC236}">
                <a16:creationId xmlns:a16="http://schemas.microsoft.com/office/drawing/2014/main" id="{1BCFD98B-5534-433A-A8E6-4DE2A04C39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4129" y="2286000"/>
            <a:ext cx="360000" cy="360000"/>
          </a:xfrm>
          <a:prstGeom prst="rect">
            <a:avLst/>
          </a:prstGeom>
        </p:spPr>
      </p:pic>
    </p:spTree>
    <p:extLst>
      <p:ext uri="{BB962C8B-B14F-4D97-AF65-F5344CB8AC3E}">
        <p14:creationId xmlns:p14="http://schemas.microsoft.com/office/powerpoint/2010/main" val="21570444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231547-F69E-41A9-93A9-B70B5E3064F1}">
  <ds:schemaRefs>
    <ds:schemaRef ds:uri="http://schemas.microsoft.com/office/2006/documentManagement/types"/>
    <ds:schemaRef ds:uri="http://www.w3.org/XML/1998/namespace"/>
    <ds:schemaRef ds:uri="71af3243-3dd4-4a8d-8c0d-dd76da1f02a5"/>
    <ds:schemaRef ds:uri="http://purl.org/dc/terms/"/>
    <ds:schemaRef ds:uri="http://schemas.microsoft.com/office/infopath/2007/PartnerControls"/>
    <ds:schemaRef ds:uri="http://purl.org/dc/elements/1.1/"/>
    <ds:schemaRef ds:uri="http://schemas.openxmlformats.org/package/2006/metadata/core-properties"/>
    <ds:schemaRef ds:uri="16c05727-aa75-4e4a-9b5f-8a80a116589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6EA402E5-52EF-430B-8CCB-B4AAA8C46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A7C301-87CC-4EB1-AF40-15075522FC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Retail design</Template>
  <TotalTime>464</TotalTime>
  <Words>591</Words>
  <Application>Microsoft Office PowerPoint</Application>
  <PresentationFormat>Widescreen</PresentationFormat>
  <Paragraphs>102</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Tw Cen MT</vt:lpstr>
      <vt:lpstr>Tw Cen MT Condensed</vt:lpstr>
      <vt:lpstr>Wingdings 3</vt:lpstr>
      <vt:lpstr>Integral</vt:lpstr>
      <vt:lpstr>Bright coffee shop analysis</vt:lpstr>
      <vt:lpstr>Outline</vt:lpstr>
      <vt:lpstr>Introduction</vt:lpstr>
      <vt:lpstr>Problem statement</vt:lpstr>
      <vt:lpstr>Objectives</vt:lpstr>
      <vt:lpstr>Results</vt:lpstr>
      <vt:lpstr>January 2023 makes low sales (summer month)  February 2023 sales dips further down for all stores  March to April 2023 sales starts gaining momentum  May to June 2023 sales peak (winter months)  </vt:lpstr>
      <vt:lpstr>PowerPoint Presentation</vt:lpstr>
      <vt:lpstr>PowerPoint Presentation</vt:lpstr>
      <vt:lpstr>PowerPoint Presentation</vt:lpstr>
      <vt:lpstr>PowerPoint Presentation</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this pc</dc:creator>
  <cp:lastModifiedBy>this pc</cp:lastModifiedBy>
  <cp:revision>12</cp:revision>
  <dcterms:created xsi:type="dcterms:W3CDTF">2026-03-31T07:39:24Z</dcterms:created>
  <dcterms:modified xsi:type="dcterms:W3CDTF">2026-04-01T07:01:05Z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